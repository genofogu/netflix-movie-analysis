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6256000" cy="9144000"/>
  <p:notesSz cx="9144000" cy="16256000"/>
  <p:embeddedFontLst>
    <p:embeddedFont>
      <p:font typeface="Liter" charset="-122" pitchFamily="34"/>
      <p:regular r:id="rId1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Movie Count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Romance</c:v>
                  </c:pt>
                  <c:pt idx="1">
                    <c:v>Thriller</c:v>
                  </c:pt>
                  <c:pt idx="2">
                    <c:v>Action</c:v>
                  </c:pt>
                  <c:pt idx="3">
                    <c:v>Comedy</c:v>
                  </c:pt>
                  <c:pt idx="4">
                    <c:v>Drama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580</c:v>
                </c:pt>
                <c:pt idx="1">
                  <c:v>720</c:v>
                </c:pt>
                <c:pt idx="2">
                  <c:v>950</c:v>
                </c:pt>
                <c:pt idx="3">
                  <c:v>1100</c:v>
                </c:pt>
                <c:pt idx="4">
                  <c:v>2100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3B3B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2a2a2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Number of Movies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0-50</c:v>
                  </c:pt>
                  <c:pt idx="1">
                    <c:v>50-100</c:v>
                  </c:pt>
                  <c:pt idx="2">
                    <c:v>100-150</c:v>
                  </c:pt>
                  <c:pt idx="3">
                    <c:v>150-200</c:v>
                  </c:pt>
                  <c:pt idx="4">
                    <c:v>200-300</c:v>
                  </c:pt>
                  <c:pt idx="5">
                    <c:v>300-400</c:v>
                  </c:pt>
                  <c:pt idx="6">
                    <c:v>400-500</c:v>
                  </c:pt>
                  <c:pt idx="7">
                    <c:v>500+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3200</c:v>
                </c:pt>
                <c:pt idx="1">
                  <c:v>2100</c:v>
                </c:pt>
                <c:pt idx="2">
                  <c:v>1400</c:v>
                </c:pt>
                <c:pt idx="3">
                  <c:v>950</c:v>
                </c:pt>
                <c:pt idx="4">
                  <c:v>720</c:v>
                </c:pt>
                <c:pt idx="5">
                  <c:v>380</c:v>
                </c:pt>
                <c:pt idx="6">
                  <c:v>210</c:v>
                </c:pt>
                <c:pt idx="7">
                  <c:v>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Popularity Score Range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B3B3B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a2a2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B3B3B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Movie Count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0-2</c:v>
                  </c:pt>
                  <c:pt idx="1">
                    <c:v>2-3</c:v>
                  </c:pt>
                  <c:pt idx="2">
                    <c:v>3-4</c:v>
                  </c:pt>
                  <c:pt idx="3">
                    <c:v>4-5</c:v>
                  </c:pt>
                  <c:pt idx="4">
                    <c:v>5-6</c:v>
                  </c:pt>
                  <c:pt idx="5">
                    <c:v>6-7</c:v>
                  </c:pt>
                  <c:pt idx="6">
                    <c:v>7-8</c:v>
                  </c:pt>
                  <c:pt idx="7">
                    <c:v>8-9</c:v>
                  </c:pt>
                  <c:pt idx="8">
                    <c:v>9-10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120</c:v>
                </c:pt>
                <c:pt idx="1">
                  <c:v>280</c:v>
                </c:pt>
                <c:pt idx="2">
                  <c:v>520</c:v>
                </c:pt>
                <c:pt idx="3">
                  <c:v>1100</c:v>
                </c:pt>
                <c:pt idx="4">
                  <c:v>2100</c:v>
                </c:pt>
                <c:pt idx="5">
                  <c:v>2800</c:v>
                </c:pt>
                <c:pt idx="6">
                  <c:v>1450</c:v>
                </c:pt>
                <c:pt idx="7">
                  <c:v>380</c:v>
                </c:pt>
                <c:pt idx="8">
                  <c:v>150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Vote Average Range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B3B3B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a2a2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B3B3B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Movies Released</c:v>
                </c:pt>
              </c:strCache>
            </c:strRef>
          </c:tx>
          <c:spPr>
            <a:solidFill>
              <a:srgbClr val="E50914"/>
            </a:solidFill>
            <a:ln w="25400" cap="flat">
              <a:solidFill>
                <a:srgbClr val="E5091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50914"/>
              </a:solidFill>
              <a:ln w="9525" cap="flat">
                <a:solidFill>
                  <a:srgbClr val="E5091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Sheet1!$A$2:$A$23</c:f>
              <c:multiLvlStrCache>
                <c:ptCount val="22"/>
                <c:lvl>
                  <c:pt idx="0">
                    <c:v>1980</c:v>
                  </c:pt>
                  <c:pt idx="1">
                    <c:v>1985</c:v>
                  </c:pt>
                  <c:pt idx="2">
                    <c:v>1990</c:v>
                  </c:pt>
                  <c:pt idx="3">
                    <c:v>1995</c:v>
                  </c:pt>
                  <c:pt idx="4">
                    <c:v>2000</c:v>
                  </c:pt>
                  <c:pt idx="5">
                    <c:v>2002</c:v>
                  </c:pt>
                  <c:pt idx="6">
                    <c:v>2004</c:v>
                  </c:pt>
                  <c:pt idx="7">
                    <c:v>2006</c:v>
                  </c:pt>
                  <c:pt idx="8">
                    <c:v>2008</c:v>
                  </c:pt>
                  <c:pt idx="9">
                    <c:v>2010</c:v>
                  </c:pt>
                  <c:pt idx="10">
                    <c:v>2012</c:v>
                  </c:pt>
                  <c:pt idx="11">
                    <c:v>2014</c:v>
                  </c:pt>
                  <c:pt idx="12">
                    <c:v>2015</c:v>
                  </c:pt>
                  <c:pt idx="13">
                    <c:v>2016</c:v>
                  </c:pt>
                  <c:pt idx="14">
                    <c:v>2017</c:v>
                  </c:pt>
                  <c:pt idx="15">
                    <c:v>2018</c:v>
                  </c:pt>
                  <c:pt idx="16">
                    <c:v>2019</c:v>
                  </c:pt>
                  <c:pt idx="17">
                    <c:v>2020</c:v>
                  </c:pt>
                  <c:pt idx="18">
                    <c:v>2021</c:v>
                  </c:pt>
                  <c:pt idx="19">
                    <c:v>2022</c:v>
                  </c:pt>
                  <c:pt idx="20">
                    <c:v>2023</c:v>
                  </c:pt>
                  <c:pt idx="21">
                    <c:v>2024</c:v>
                  </c:pt>
                </c:lvl>
              </c:multiLvlStrCache>
            </c:multiLvl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45</c:v>
                </c:pt>
                <c:pt idx="1">
                  <c:v>62</c:v>
                </c:pt>
                <c:pt idx="2">
                  <c:v>85</c:v>
                </c:pt>
                <c:pt idx="3">
                  <c:v>120</c:v>
                </c:pt>
                <c:pt idx="4">
                  <c:v>180</c:v>
                </c:pt>
                <c:pt idx="5">
                  <c:v>210</c:v>
                </c:pt>
                <c:pt idx="6">
                  <c:v>250</c:v>
                </c:pt>
                <c:pt idx="7">
                  <c:v>290</c:v>
                </c:pt>
                <c:pt idx="8">
                  <c:v>350</c:v>
                </c:pt>
                <c:pt idx="9">
                  <c:v>420</c:v>
                </c:pt>
                <c:pt idx="10">
                  <c:v>480</c:v>
                </c:pt>
                <c:pt idx="11">
                  <c:v>550</c:v>
                </c:pt>
                <c:pt idx="12">
                  <c:v>620</c:v>
                </c:pt>
                <c:pt idx="13">
                  <c:v>780</c:v>
                </c:pt>
                <c:pt idx="14">
                  <c:v>950</c:v>
                </c:pt>
                <c:pt idx="15">
                  <c:v>1120</c:v>
                </c:pt>
                <c:pt idx="16">
                  <c:v>1280</c:v>
                </c:pt>
                <c:pt idx="17">
                  <c:v>1450</c:v>
                </c:pt>
                <c:pt idx="18">
                  <c:v>1380</c:v>
                </c:pt>
                <c:pt idx="19">
                  <c:v>1100</c:v>
                </c:pt>
                <c:pt idx="20">
                  <c:v>920</c:v>
                </c:pt>
                <c:pt idx="21">
                  <c:v>650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A2A2A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B3B3B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a2a2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B3B3B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hjx7uioikcm7o/mnt/agents/output/netflix_analysis/images/cover_bg.png">    </p:cNvPr>
          <p:cNvPicPr>
            <a:picLocks noChangeAspect="1"/>
          </p:cNvPicPr>
          <p:nvPr/>
        </p:nvPicPr>
        <p:blipFill>
          <a:blip r:embed="rId1"/>
          <a:srcRect l="0" r="0" t="781" b="781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2331" y="7620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0F0F">
                  <a:alpha val="60000"/>
                </a:srgbClr>
              </a:gs>
              <a:gs pos="30000">
                <a:srgbClr val="0F0F0F">
                  <a:alpha val="80000"/>
                </a:srgbClr>
              </a:gs>
              <a:gs pos="60000">
                <a:srgbClr val="0F0F0F">
                  <a:alpha val="93000"/>
                </a:srgbClr>
              </a:gs>
              <a:gs pos="100000">
                <a:srgbClr val="0F0F0F"/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2921000"/>
            <a:ext cx="2540000" cy="0"/>
          </a:xfrm>
          <a:prstGeom prst="straightConnector1">
            <a:avLst/>
          </a:prstGeom>
          <a:noFill/>
          <a:ln w="38100">
            <a:solidFill>
              <a:srgbClr val="E50914"/>
            </a:solidFill>
            <a:prstDash val="solid"/>
            <a:headEnd type="none"/>
            <a:tailEnd type="none"/>
          </a:ln>
        </p:spPr>
      </p:sp>
      <p:sp>
        <p:nvSpPr>
          <p:cNvPr id="5" name="Text 2"/>
          <p:cNvSpPr/>
          <p:nvPr/>
        </p:nvSpPr>
        <p:spPr>
          <a:xfrm>
            <a:off x="1778000" y="3175000"/>
            <a:ext cx="12700000" cy="863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200" spc="4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NETFLIX MOVIE DATA ANALYSIS</a:t>
            </a:r>
            <a:endParaRPr lang="en-US" sz="5200" dirty="0"/>
          </a:p>
        </p:txBody>
      </p:sp>
      <p:sp>
        <p:nvSpPr>
          <p:cNvPr id="6" name="Shape 3"/>
          <p:cNvSpPr/>
          <p:nvPr/>
        </p:nvSpPr>
        <p:spPr>
          <a:xfrm>
            <a:off x="6858000" y="4191000"/>
            <a:ext cx="2540000" cy="0"/>
          </a:xfrm>
          <a:prstGeom prst="straightConnector1">
            <a:avLst/>
          </a:prstGeom>
          <a:noFill/>
          <a:ln w="38100">
            <a:solidFill>
              <a:srgbClr val="E50914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3048000" y="4445000"/>
            <a:ext cx="1016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Data-Driven Insights from 9,000+ Movies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0" y="7620000"/>
            <a:ext cx="16256000" cy="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Text 6"/>
          <p:cNvSpPr/>
          <p:nvPr/>
        </p:nvSpPr>
        <p:spPr>
          <a:xfrm>
            <a:off x="4318000" y="7874000"/>
            <a:ext cx="762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spc="300" kern="0" dirty="0">
                <a:solidFill>
                  <a:srgbClr val="8080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PORTFOLIO PROJECT | DATA ANALYST TRACK | 2025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62000" y="381000"/>
            <a:ext cx="76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E509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3016129" y="6918087"/>
            <a:ext cx="2923741" cy="3327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E6E6E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By : Anu Gaur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50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E509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8737600"/>
            <a:ext cx="14732000" cy="0"/>
          </a:xfrm>
          <a:prstGeom prst="straightConnector1">
            <a:avLst/>
          </a:prstGeom>
          <a:noFill/>
          <a:ln w="12700">
            <a:solidFill>
              <a:srgbClr val="2A2A2A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762000" y="8788400"/>
            <a:ext cx="508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8080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NETFLIX MOVIE DATA ANALYSIS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4732000" y="87884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8080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62000" y="889000"/>
            <a:ext cx="50800" cy="3556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7" name="Text 5"/>
          <p:cNvSpPr/>
          <p:nvPr/>
        </p:nvSpPr>
        <p:spPr>
          <a:xfrm>
            <a:off x="965200" y="838200"/>
            <a:ext cx="635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62000" y="1524000"/>
            <a:ext cx="3429000" cy="16510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35050" y="17272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76200" y="0"/>
                </a:moveTo>
                <a:cubicBezTo>
                  <a:pt x="65663" y="0"/>
                  <a:pt x="57150" y="8513"/>
                  <a:pt x="57150" y="19050"/>
                </a:cubicBezTo>
                <a:lnTo>
                  <a:pt x="57150" y="38100"/>
                </a:lnTo>
                <a:lnTo>
                  <a:pt x="38100" y="38100"/>
                </a:lnTo>
                <a:cubicBezTo>
                  <a:pt x="17085" y="38100"/>
                  <a:pt x="0" y="55185"/>
                  <a:pt x="0" y="76200"/>
                </a:cubicBezTo>
                <a:lnTo>
                  <a:pt x="0" y="104775"/>
                </a:lnTo>
                <a:lnTo>
                  <a:pt x="266700" y="104775"/>
                </a:lnTo>
                <a:lnTo>
                  <a:pt x="266700" y="76200"/>
                </a:lnTo>
                <a:cubicBezTo>
                  <a:pt x="266700" y="55185"/>
                  <a:pt x="249615" y="38100"/>
                  <a:pt x="228600" y="38100"/>
                </a:cubicBezTo>
                <a:lnTo>
                  <a:pt x="209550" y="38100"/>
                </a:lnTo>
                <a:lnTo>
                  <a:pt x="209550" y="19050"/>
                </a:lnTo>
                <a:cubicBezTo>
                  <a:pt x="209550" y="8513"/>
                  <a:pt x="201037" y="0"/>
                  <a:pt x="190500" y="0"/>
                </a:cubicBezTo>
                <a:cubicBezTo>
                  <a:pt x="179963" y="0"/>
                  <a:pt x="171450" y="8513"/>
                  <a:pt x="171450" y="19050"/>
                </a:cubicBezTo>
                <a:lnTo>
                  <a:pt x="171450" y="38100"/>
                </a:lnTo>
                <a:lnTo>
                  <a:pt x="95250" y="38100"/>
                </a:lnTo>
                <a:lnTo>
                  <a:pt x="95250" y="19050"/>
                </a:lnTo>
                <a:cubicBezTo>
                  <a:pt x="95250" y="8513"/>
                  <a:pt x="86737" y="0"/>
                  <a:pt x="76200" y="0"/>
                </a:cubicBezTo>
                <a:close/>
                <a:moveTo>
                  <a:pt x="0" y="133350"/>
                </a:moveTo>
                <a:lnTo>
                  <a:pt x="0" y="247650"/>
                </a:lnTo>
                <a:cubicBezTo>
                  <a:pt x="0" y="268665"/>
                  <a:pt x="17085" y="285750"/>
                  <a:pt x="38100" y="285750"/>
                </a:cubicBezTo>
                <a:lnTo>
                  <a:pt x="228600" y="285750"/>
                </a:lnTo>
                <a:cubicBezTo>
                  <a:pt x="249615" y="285750"/>
                  <a:pt x="266700" y="268665"/>
                  <a:pt x="266700" y="247650"/>
                </a:cubicBezTo>
                <a:lnTo>
                  <a:pt x="266700" y="133350"/>
                </a:lnTo>
                <a:lnTo>
                  <a:pt x="0" y="133350"/>
                </a:lnTo>
                <a:close/>
              </a:path>
            </a:pathLst>
          </a:custGeom>
          <a:solidFill>
            <a:srgbClr val="E50914"/>
          </a:solidFill>
          <a:ln/>
        </p:spPr>
      </p:sp>
      <p:sp>
        <p:nvSpPr>
          <p:cNvPr id="10" name="Text 8"/>
          <p:cNvSpPr/>
          <p:nvPr/>
        </p:nvSpPr>
        <p:spPr>
          <a:xfrm>
            <a:off x="1422400" y="1727200"/>
            <a:ext cx="2489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080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Founded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16000" y="2133600"/>
            <a:ext cx="2921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1997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1016000" y="2768600"/>
            <a:ext cx="292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8080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Scotts Valley, California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45000" y="1524000"/>
            <a:ext cx="3429000" cy="16510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0900" y="17272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190500" y="9525"/>
                </a:moveTo>
                <a:cubicBezTo>
                  <a:pt x="224670" y="9525"/>
                  <a:pt x="252413" y="37267"/>
                  <a:pt x="252413" y="71438"/>
                </a:cubicBezTo>
                <a:cubicBezTo>
                  <a:pt x="252413" y="105608"/>
                  <a:pt x="224670" y="133350"/>
                  <a:pt x="190500" y="133350"/>
                </a:cubicBezTo>
                <a:cubicBezTo>
                  <a:pt x="156330" y="133350"/>
                  <a:pt x="128588" y="105608"/>
                  <a:pt x="128588" y="71438"/>
                </a:cubicBezTo>
                <a:cubicBezTo>
                  <a:pt x="128588" y="37267"/>
                  <a:pt x="156330" y="9525"/>
                  <a:pt x="190500" y="9525"/>
                </a:cubicBezTo>
                <a:close/>
                <a:moveTo>
                  <a:pt x="57150" y="52388"/>
                </a:moveTo>
                <a:cubicBezTo>
                  <a:pt x="80806" y="52388"/>
                  <a:pt x="100013" y="71594"/>
                  <a:pt x="100013" y="95250"/>
                </a:cubicBezTo>
                <a:cubicBezTo>
                  <a:pt x="100013" y="118906"/>
                  <a:pt x="80806" y="138113"/>
                  <a:pt x="57150" y="138113"/>
                </a:cubicBezTo>
                <a:cubicBezTo>
                  <a:pt x="33494" y="138113"/>
                  <a:pt x="14288" y="118906"/>
                  <a:pt x="14288" y="95250"/>
                </a:cubicBezTo>
                <a:cubicBezTo>
                  <a:pt x="14288" y="71594"/>
                  <a:pt x="33494" y="52388"/>
                  <a:pt x="57150" y="52388"/>
                </a:cubicBezTo>
                <a:close/>
                <a:moveTo>
                  <a:pt x="0" y="247650"/>
                </a:moveTo>
                <a:cubicBezTo>
                  <a:pt x="0" y="205561"/>
                  <a:pt x="34111" y="171450"/>
                  <a:pt x="76200" y="171450"/>
                </a:cubicBezTo>
                <a:cubicBezTo>
                  <a:pt x="83820" y="171450"/>
                  <a:pt x="91202" y="172581"/>
                  <a:pt x="98167" y="174665"/>
                </a:cubicBezTo>
                <a:cubicBezTo>
                  <a:pt x="78581" y="196572"/>
                  <a:pt x="66675" y="225504"/>
                  <a:pt x="66675" y="257175"/>
                </a:cubicBezTo>
                <a:lnTo>
                  <a:pt x="66675" y="266700"/>
                </a:lnTo>
                <a:cubicBezTo>
                  <a:pt x="66675" y="273487"/>
                  <a:pt x="68104" y="279916"/>
                  <a:pt x="70664" y="285750"/>
                </a:cubicBezTo>
                <a:lnTo>
                  <a:pt x="19050" y="285750"/>
                </a:lnTo>
                <a:cubicBezTo>
                  <a:pt x="8513" y="285750"/>
                  <a:pt x="0" y="277237"/>
                  <a:pt x="0" y="266700"/>
                </a:cubicBezTo>
                <a:lnTo>
                  <a:pt x="0" y="247650"/>
                </a:lnTo>
                <a:close/>
                <a:moveTo>
                  <a:pt x="310336" y="285750"/>
                </a:moveTo>
                <a:cubicBezTo>
                  <a:pt x="312896" y="279916"/>
                  <a:pt x="314325" y="273487"/>
                  <a:pt x="314325" y="266700"/>
                </a:cubicBezTo>
                <a:lnTo>
                  <a:pt x="314325" y="257175"/>
                </a:lnTo>
                <a:cubicBezTo>
                  <a:pt x="314325" y="225504"/>
                  <a:pt x="302419" y="196572"/>
                  <a:pt x="282833" y="174665"/>
                </a:cubicBezTo>
                <a:cubicBezTo>
                  <a:pt x="289798" y="172581"/>
                  <a:pt x="297180" y="171450"/>
                  <a:pt x="304800" y="171450"/>
                </a:cubicBezTo>
                <a:cubicBezTo>
                  <a:pt x="346889" y="171450"/>
                  <a:pt x="381000" y="205561"/>
                  <a:pt x="381000" y="247650"/>
                </a:cubicBezTo>
                <a:lnTo>
                  <a:pt x="381000" y="266700"/>
                </a:lnTo>
                <a:cubicBezTo>
                  <a:pt x="381000" y="277237"/>
                  <a:pt x="372487" y="285750"/>
                  <a:pt x="361950" y="285750"/>
                </a:cubicBezTo>
                <a:lnTo>
                  <a:pt x="310336" y="285750"/>
                </a:lnTo>
                <a:close/>
                <a:moveTo>
                  <a:pt x="280987" y="95250"/>
                </a:moveTo>
                <a:cubicBezTo>
                  <a:pt x="280987" y="71594"/>
                  <a:pt x="300194" y="52388"/>
                  <a:pt x="323850" y="52388"/>
                </a:cubicBezTo>
                <a:cubicBezTo>
                  <a:pt x="347506" y="52388"/>
                  <a:pt x="366712" y="71594"/>
                  <a:pt x="366712" y="95250"/>
                </a:cubicBezTo>
                <a:cubicBezTo>
                  <a:pt x="366712" y="118906"/>
                  <a:pt x="347506" y="138113"/>
                  <a:pt x="323850" y="138113"/>
                </a:cubicBezTo>
                <a:cubicBezTo>
                  <a:pt x="300194" y="138113"/>
                  <a:pt x="280987" y="118906"/>
                  <a:pt x="280987" y="95250"/>
                </a:cubicBezTo>
                <a:close/>
                <a:moveTo>
                  <a:pt x="95250" y="257175"/>
                </a:moveTo>
                <a:cubicBezTo>
                  <a:pt x="95250" y="204549"/>
                  <a:pt x="137874" y="161925"/>
                  <a:pt x="190500" y="161925"/>
                </a:cubicBezTo>
                <a:cubicBezTo>
                  <a:pt x="243126" y="161925"/>
                  <a:pt x="285750" y="204549"/>
                  <a:pt x="285750" y="257175"/>
                </a:cubicBezTo>
                <a:lnTo>
                  <a:pt x="285750" y="266700"/>
                </a:lnTo>
                <a:cubicBezTo>
                  <a:pt x="285750" y="277237"/>
                  <a:pt x="277237" y="285750"/>
                  <a:pt x="266700" y="285750"/>
                </a:cubicBezTo>
                <a:lnTo>
                  <a:pt x="114300" y="285750"/>
                </a:lnTo>
                <a:cubicBezTo>
                  <a:pt x="103763" y="285750"/>
                  <a:pt x="95250" y="277237"/>
                  <a:pt x="95250" y="266700"/>
                </a:cubicBezTo>
                <a:lnTo>
                  <a:pt x="95250" y="257175"/>
                </a:lnTo>
                <a:close/>
              </a:path>
            </a:pathLst>
          </a:custGeom>
          <a:solidFill>
            <a:srgbClr val="E50914"/>
          </a:solidFill>
          <a:ln/>
        </p:spPr>
      </p:sp>
      <p:sp>
        <p:nvSpPr>
          <p:cNvPr id="15" name="Text 13"/>
          <p:cNvSpPr/>
          <p:nvPr/>
        </p:nvSpPr>
        <p:spPr>
          <a:xfrm>
            <a:off x="5105400" y="1727200"/>
            <a:ext cx="2489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080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Subscribers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99000" y="2133600"/>
            <a:ext cx="2921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283M+</a:t>
            </a:r>
            <a:endParaRPr lang="en-US" sz="5200" dirty="0"/>
          </a:p>
        </p:txBody>
      </p:sp>
      <p:sp>
        <p:nvSpPr>
          <p:cNvPr id="17" name="Text 15"/>
          <p:cNvSpPr/>
          <p:nvPr/>
        </p:nvSpPr>
        <p:spPr>
          <a:xfrm>
            <a:off x="4699000" y="2768600"/>
            <a:ext cx="292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8080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Across 190+ countries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28000" y="1524000"/>
            <a:ext cx="3429000" cy="16510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39150" y="1727200"/>
            <a:ext cx="190500" cy="304800"/>
          </a:xfrm>
          <a:custGeom>
            <a:avLst/>
            <a:gdLst/>
            <a:ahLst/>
            <a:cxnLst/>
            <a:rect l="l" t="t" r="r" b="b"/>
            <a:pathLst>
              <a:path w="190500" h="304800">
                <a:moveTo>
                  <a:pt x="80962" y="14288"/>
                </a:moveTo>
                <a:cubicBezTo>
                  <a:pt x="80962" y="6370"/>
                  <a:pt x="87332" y="0"/>
                  <a:pt x="95250" y="0"/>
                </a:cubicBezTo>
                <a:cubicBezTo>
                  <a:pt x="103168" y="0"/>
                  <a:pt x="109537" y="6370"/>
                  <a:pt x="109537" y="14288"/>
                </a:cubicBezTo>
                <a:lnTo>
                  <a:pt x="109537" y="38100"/>
                </a:lnTo>
                <a:lnTo>
                  <a:pt x="142875" y="38100"/>
                </a:lnTo>
                <a:cubicBezTo>
                  <a:pt x="153412" y="38100"/>
                  <a:pt x="161925" y="46613"/>
                  <a:pt x="161925" y="57150"/>
                </a:cubicBezTo>
                <a:cubicBezTo>
                  <a:pt x="161925" y="67687"/>
                  <a:pt x="153412" y="76200"/>
                  <a:pt x="142875" y="76200"/>
                </a:cubicBezTo>
                <a:lnTo>
                  <a:pt x="74474" y="76200"/>
                </a:lnTo>
                <a:cubicBezTo>
                  <a:pt x="59650" y="76200"/>
                  <a:pt x="47625" y="88225"/>
                  <a:pt x="47625" y="103049"/>
                </a:cubicBezTo>
                <a:cubicBezTo>
                  <a:pt x="47625" y="116443"/>
                  <a:pt x="57448" y="127754"/>
                  <a:pt x="70664" y="129659"/>
                </a:cubicBezTo>
                <a:lnTo>
                  <a:pt x="125194" y="137458"/>
                </a:lnTo>
                <a:cubicBezTo>
                  <a:pt x="157222" y="142042"/>
                  <a:pt x="180975" y="169426"/>
                  <a:pt x="180975" y="201751"/>
                </a:cubicBezTo>
                <a:cubicBezTo>
                  <a:pt x="180975" y="237649"/>
                  <a:pt x="151864" y="266700"/>
                  <a:pt x="116026" y="266700"/>
                </a:cubicBezTo>
                <a:lnTo>
                  <a:pt x="109537" y="266700"/>
                </a:lnTo>
                <a:lnTo>
                  <a:pt x="109537" y="290513"/>
                </a:lnTo>
                <a:cubicBezTo>
                  <a:pt x="109537" y="298430"/>
                  <a:pt x="103168" y="304800"/>
                  <a:pt x="95250" y="304800"/>
                </a:cubicBezTo>
                <a:cubicBezTo>
                  <a:pt x="87332" y="304800"/>
                  <a:pt x="80962" y="298430"/>
                  <a:pt x="80962" y="290513"/>
                </a:cubicBezTo>
                <a:lnTo>
                  <a:pt x="80962" y="266700"/>
                </a:lnTo>
                <a:lnTo>
                  <a:pt x="38100" y="266700"/>
                </a:lnTo>
                <a:cubicBezTo>
                  <a:pt x="27563" y="266700"/>
                  <a:pt x="19050" y="258187"/>
                  <a:pt x="19050" y="247650"/>
                </a:cubicBezTo>
                <a:cubicBezTo>
                  <a:pt x="19050" y="237113"/>
                  <a:pt x="27563" y="228600"/>
                  <a:pt x="38100" y="228600"/>
                </a:cubicBezTo>
                <a:lnTo>
                  <a:pt x="116026" y="228600"/>
                </a:lnTo>
                <a:cubicBezTo>
                  <a:pt x="130850" y="228600"/>
                  <a:pt x="142875" y="216575"/>
                  <a:pt x="142875" y="201751"/>
                </a:cubicBezTo>
                <a:cubicBezTo>
                  <a:pt x="142875" y="188357"/>
                  <a:pt x="133052" y="177046"/>
                  <a:pt x="119836" y="175141"/>
                </a:cubicBezTo>
                <a:lnTo>
                  <a:pt x="65306" y="167342"/>
                </a:lnTo>
                <a:cubicBezTo>
                  <a:pt x="33278" y="162818"/>
                  <a:pt x="9525" y="135374"/>
                  <a:pt x="9525" y="103049"/>
                </a:cubicBezTo>
                <a:cubicBezTo>
                  <a:pt x="9525" y="67211"/>
                  <a:pt x="38636" y="38100"/>
                  <a:pt x="74474" y="38100"/>
                </a:cubicBezTo>
                <a:lnTo>
                  <a:pt x="80962" y="38100"/>
                </a:lnTo>
                <a:lnTo>
                  <a:pt x="80962" y="14288"/>
                </a:lnTo>
                <a:close/>
              </a:path>
            </a:pathLst>
          </a:custGeom>
          <a:solidFill>
            <a:srgbClr val="E50914"/>
          </a:solidFill>
          <a:ln/>
        </p:spPr>
      </p:sp>
      <p:sp>
        <p:nvSpPr>
          <p:cNvPr id="20" name="Text 18"/>
          <p:cNvSpPr/>
          <p:nvPr/>
        </p:nvSpPr>
        <p:spPr>
          <a:xfrm>
            <a:off x="8788400" y="1727200"/>
            <a:ext cx="2489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080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Q3 2024 Revenue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82000" y="2133600"/>
            <a:ext cx="2921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$10B</a:t>
            </a:r>
            <a:endParaRPr lang="en-US" sz="5200" dirty="0"/>
          </a:p>
        </p:txBody>
      </p:sp>
      <p:sp>
        <p:nvSpPr>
          <p:cNvPr id="22" name="Text 20"/>
          <p:cNvSpPr/>
          <p:nvPr/>
        </p:nvSpPr>
        <p:spPr>
          <a:xfrm>
            <a:off x="8382000" y="2768600"/>
            <a:ext cx="292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8080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Profits: $2.4B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811000" y="1524000"/>
            <a:ext cx="3683000" cy="16510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084050" y="17272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0" y="57150"/>
                </a:moveTo>
                <a:cubicBezTo>
                  <a:pt x="0" y="36135"/>
                  <a:pt x="17085" y="19050"/>
                  <a:pt x="38100" y="19050"/>
                </a:cubicBezTo>
                <a:lnTo>
                  <a:pt x="228600" y="19050"/>
                </a:lnTo>
                <a:cubicBezTo>
                  <a:pt x="249615" y="19050"/>
                  <a:pt x="266700" y="36135"/>
                  <a:pt x="266700" y="57150"/>
                </a:cubicBezTo>
                <a:lnTo>
                  <a:pt x="266700" y="247650"/>
                </a:lnTo>
                <a:cubicBezTo>
                  <a:pt x="266700" y="268665"/>
                  <a:pt x="249615" y="285750"/>
                  <a:pt x="228600" y="285750"/>
                </a:cubicBezTo>
                <a:lnTo>
                  <a:pt x="38100" y="285750"/>
                </a:lnTo>
                <a:cubicBezTo>
                  <a:pt x="17085" y="285750"/>
                  <a:pt x="0" y="268665"/>
                  <a:pt x="0" y="247650"/>
                </a:cubicBezTo>
                <a:lnTo>
                  <a:pt x="0" y="57150"/>
                </a:lnTo>
                <a:close/>
                <a:moveTo>
                  <a:pt x="28575" y="219075"/>
                </a:moveTo>
                <a:lnTo>
                  <a:pt x="28575" y="238125"/>
                </a:lnTo>
                <a:cubicBezTo>
                  <a:pt x="28575" y="243364"/>
                  <a:pt x="32861" y="247650"/>
                  <a:pt x="38100" y="247650"/>
                </a:cubicBezTo>
                <a:lnTo>
                  <a:pt x="57150" y="247650"/>
                </a:lnTo>
                <a:cubicBezTo>
                  <a:pt x="62389" y="247650"/>
                  <a:pt x="66675" y="243364"/>
                  <a:pt x="66675" y="238125"/>
                </a:cubicBezTo>
                <a:lnTo>
                  <a:pt x="66675" y="219075"/>
                </a:lnTo>
                <a:cubicBezTo>
                  <a:pt x="66675" y="213836"/>
                  <a:pt x="62389" y="209550"/>
                  <a:pt x="57150" y="209550"/>
                </a:cubicBezTo>
                <a:lnTo>
                  <a:pt x="38100" y="209550"/>
                </a:lnTo>
                <a:cubicBezTo>
                  <a:pt x="32861" y="209550"/>
                  <a:pt x="28575" y="213836"/>
                  <a:pt x="28575" y="219075"/>
                </a:cubicBezTo>
                <a:close/>
                <a:moveTo>
                  <a:pt x="209550" y="209550"/>
                </a:moveTo>
                <a:cubicBezTo>
                  <a:pt x="204311" y="209550"/>
                  <a:pt x="200025" y="213836"/>
                  <a:pt x="200025" y="219075"/>
                </a:cubicBezTo>
                <a:lnTo>
                  <a:pt x="200025" y="238125"/>
                </a:lnTo>
                <a:cubicBezTo>
                  <a:pt x="200025" y="243364"/>
                  <a:pt x="204311" y="247650"/>
                  <a:pt x="209550" y="247650"/>
                </a:cubicBezTo>
                <a:lnTo>
                  <a:pt x="228600" y="247650"/>
                </a:lnTo>
                <a:cubicBezTo>
                  <a:pt x="233839" y="247650"/>
                  <a:pt x="238125" y="243364"/>
                  <a:pt x="238125" y="238125"/>
                </a:cubicBezTo>
                <a:lnTo>
                  <a:pt x="238125" y="219075"/>
                </a:lnTo>
                <a:cubicBezTo>
                  <a:pt x="238125" y="213836"/>
                  <a:pt x="233839" y="209550"/>
                  <a:pt x="228600" y="209550"/>
                </a:cubicBezTo>
                <a:lnTo>
                  <a:pt x="209550" y="209550"/>
                </a:lnTo>
                <a:close/>
                <a:moveTo>
                  <a:pt x="28575" y="142875"/>
                </a:moveTo>
                <a:lnTo>
                  <a:pt x="28575" y="161925"/>
                </a:lnTo>
                <a:cubicBezTo>
                  <a:pt x="28575" y="167164"/>
                  <a:pt x="32861" y="171450"/>
                  <a:pt x="38100" y="171450"/>
                </a:cubicBezTo>
                <a:lnTo>
                  <a:pt x="57150" y="171450"/>
                </a:lnTo>
                <a:cubicBezTo>
                  <a:pt x="62389" y="171450"/>
                  <a:pt x="66675" y="167164"/>
                  <a:pt x="66675" y="161925"/>
                </a:cubicBezTo>
                <a:lnTo>
                  <a:pt x="66675" y="142875"/>
                </a:lnTo>
                <a:cubicBezTo>
                  <a:pt x="66675" y="137636"/>
                  <a:pt x="62389" y="133350"/>
                  <a:pt x="57150" y="133350"/>
                </a:cubicBezTo>
                <a:lnTo>
                  <a:pt x="38100" y="133350"/>
                </a:lnTo>
                <a:cubicBezTo>
                  <a:pt x="32861" y="133350"/>
                  <a:pt x="28575" y="137636"/>
                  <a:pt x="28575" y="142875"/>
                </a:cubicBezTo>
                <a:close/>
                <a:moveTo>
                  <a:pt x="209550" y="133350"/>
                </a:moveTo>
                <a:cubicBezTo>
                  <a:pt x="204311" y="133350"/>
                  <a:pt x="200025" y="137636"/>
                  <a:pt x="200025" y="142875"/>
                </a:cubicBezTo>
                <a:lnTo>
                  <a:pt x="200025" y="161925"/>
                </a:lnTo>
                <a:cubicBezTo>
                  <a:pt x="200025" y="167164"/>
                  <a:pt x="204311" y="171450"/>
                  <a:pt x="209550" y="171450"/>
                </a:cubicBezTo>
                <a:lnTo>
                  <a:pt x="228600" y="171450"/>
                </a:lnTo>
                <a:cubicBezTo>
                  <a:pt x="233839" y="171450"/>
                  <a:pt x="238125" y="167164"/>
                  <a:pt x="238125" y="161925"/>
                </a:cubicBezTo>
                <a:lnTo>
                  <a:pt x="238125" y="142875"/>
                </a:lnTo>
                <a:cubicBezTo>
                  <a:pt x="238125" y="137636"/>
                  <a:pt x="233839" y="133350"/>
                  <a:pt x="228600" y="133350"/>
                </a:cubicBezTo>
                <a:lnTo>
                  <a:pt x="209550" y="133350"/>
                </a:lnTo>
                <a:close/>
                <a:moveTo>
                  <a:pt x="28575" y="66675"/>
                </a:moveTo>
                <a:lnTo>
                  <a:pt x="28575" y="85725"/>
                </a:lnTo>
                <a:cubicBezTo>
                  <a:pt x="28575" y="90964"/>
                  <a:pt x="32861" y="95250"/>
                  <a:pt x="38100" y="95250"/>
                </a:cubicBezTo>
                <a:lnTo>
                  <a:pt x="57150" y="95250"/>
                </a:lnTo>
                <a:cubicBezTo>
                  <a:pt x="62389" y="95250"/>
                  <a:pt x="66675" y="90964"/>
                  <a:pt x="66675" y="85725"/>
                </a:cubicBezTo>
                <a:lnTo>
                  <a:pt x="66675" y="66675"/>
                </a:lnTo>
                <a:cubicBezTo>
                  <a:pt x="66675" y="61436"/>
                  <a:pt x="62389" y="57150"/>
                  <a:pt x="57150" y="57150"/>
                </a:cubicBezTo>
                <a:lnTo>
                  <a:pt x="38100" y="57150"/>
                </a:lnTo>
                <a:cubicBezTo>
                  <a:pt x="32861" y="57150"/>
                  <a:pt x="28575" y="61436"/>
                  <a:pt x="28575" y="66675"/>
                </a:cubicBezTo>
                <a:close/>
                <a:moveTo>
                  <a:pt x="209550" y="57150"/>
                </a:moveTo>
                <a:cubicBezTo>
                  <a:pt x="204311" y="57150"/>
                  <a:pt x="200025" y="61436"/>
                  <a:pt x="200025" y="66675"/>
                </a:cubicBezTo>
                <a:lnTo>
                  <a:pt x="200025" y="85725"/>
                </a:lnTo>
                <a:cubicBezTo>
                  <a:pt x="200025" y="90964"/>
                  <a:pt x="204311" y="95250"/>
                  <a:pt x="209550" y="95250"/>
                </a:cubicBezTo>
                <a:lnTo>
                  <a:pt x="228600" y="95250"/>
                </a:lnTo>
                <a:cubicBezTo>
                  <a:pt x="233839" y="95250"/>
                  <a:pt x="238125" y="90964"/>
                  <a:pt x="238125" y="85725"/>
                </a:cubicBezTo>
                <a:lnTo>
                  <a:pt x="238125" y="66675"/>
                </a:lnTo>
                <a:cubicBezTo>
                  <a:pt x="238125" y="61436"/>
                  <a:pt x="233839" y="57150"/>
                  <a:pt x="228600" y="57150"/>
                </a:cubicBezTo>
                <a:lnTo>
                  <a:pt x="209550" y="57150"/>
                </a:lnTo>
                <a:close/>
              </a:path>
            </a:pathLst>
          </a:custGeom>
          <a:solidFill>
            <a:srgbClr val="E50914"/>
          </a:solidFill>
          <a:ln/>
        </p:spPr>
      </p:sp>
      <p:sp>
        <p:nvSpPr>
          <p:cNvPr id="25" name="Text 23"/>
          <p:cNvSpPr/>
          <p:nvPr/>
        </p:nvSpPr>
        <p:spPr>
          <a:xfrm>
            <a:off x="12471400" y="1727200"/>
            <a:ext cx="2743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080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Movies in Dataset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065000" y="2133600"/>
            <a:ext cx="3175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9,000+</a:t>
            </a:r>
            <a:endParaRPr lang="en-US" sz="5200" dirty="0"/>
          </a:p>
        </p:txBody>
      </p:sp>
      <p:sp>
        <p:nvSpPr>
          <p:cNvPr id="27" name="Text 25"/>
          <p:cNvSpPr/>
          <p:nvPr/>
        </p:nvSpPr>
        <p:spPr>
          <a:xfrm>
            <a:off x="12065000" y="27686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8080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Movie records analyzed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62000" y="3429000"/>
            <a:ext cx="7112000" cy="49530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16000" y="36322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Context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16000" y="4038600"/>
            <a:ext cx="6604000" cy="0"/>
          </a:xfrm>
          <a:prstGeom prst="straightConnector1">
            <a:avLst/>
          </a:prstGeom>
          <a:noFill/>
          <a:ln w="12700">
            <a:solidFill>
              <a:srgbClr val="2A2A2A"/>
            </a:solidFill>
            <a:prstDash val="solid"/>
            <a:headEnd type="none"/>
            <a:tailEnd type="none"/>
          </a:ln>
        </p:spPr>
      </p:sp>
      <p:sp>
        <p:nvSpPr>
          <p:cNvPr id="31" name="Text 29"/>
          <p:cNvSpPr/>
          <p:nvPr/>
        </p:nvSpPr>
        <p:spPr>
          <a:xfrm>
            <a:off x="1016000" y="4191000"/>
            <a:ext cx="6604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Netflix, founded in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1997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by Reed Hastings and Marc Randolph, transformed from a DVD-by-mail service into the world's leading streaming platform.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2007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Netflix introduced streaming, and by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2016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expanded to 190+ countries. Netflix uses data science and ML to power its recommendation engine.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project analyzes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E509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9,000+ movies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 uncover patterns that inform content strategy, acquisition, and production decisions.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8128000" y="3429000"/>
            <a:ext cx="7366000" cy="49530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82000" y="36322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Research Questions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382000" y="4038600"/>
            <a:ext cx="6858000" cy="0"/>
          </a:xfrm>
          <a:prstGeom prst="straightConnector1">
            <a:avLst/>
          </a:prstGeom>
          <a:noFill/>
          <a:ln w="12700">
            <a:solidFill>
              <a:srgbClr val="2A2A2A"/>
            </a:solidFill>
            <a:prstDash val="solid"/>
            <a:headEnd type="none"/>
            <a:tailEnd type="none"/>
          </a:ln>
        </p:spPr>
      </p:sp>
      <p:sp>
        <p:nvSpPr>
          <p:cNvPr id="35" name="Text 33"/>
          <p:cNvSpPr/>
          <p:nvPr/>
        </p:nvSpPr>
        <p:spPr>
          <a:xfrm>
            <a:off x="8382000" y="4191000"/>
            <a:ext cx="6858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E509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What is the most frequent genre of movies released on Netflix?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E509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Which movie has the highest votes in the vote average column?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E509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What movie has the highest popularity and what is its genre?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E509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What movie has the lowest popularity and what is its genre?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E509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Which year has the most filmed movies?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50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E509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8737600"/>
            <a:ext cx="14732000" cy="0"/>
          </a:xfrm>
          <a:prstGeom prst="straightConnector1">
            <a:avLst/>
          </a:prstGeom>
          <a:noFill/>
          <a:ln w="12700">
            <a:solidFill>
              <a:srgbClr val="2A2A2A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762000" y="8788400"/>
            <a:ext cx="508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8080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NETFLIX MOVIE DATA ANALYSIS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4732000" y="87884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8080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62000" y="889000"/>
            <a:ext cx="50800" cy="3556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7" name="Text 5"/>
          <p:cNvSpPr/>
          <p:nvPr/>
        </p:nvSpPr>
        <p:spPr>
          <a:xfrm>
            <a:off x="965200" y="838200"/>
            <a:ext cx="635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 Information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62000" y="1524000"/>
            <a:ext cx="4699000" cy="11430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16000" y="160020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9,000+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2209800"/>
            <a:ext cx="419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080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Movie Records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715000" y="1524000"/>
            <a:ext cx="4699000" cy="11430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69000" y="160020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9+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69000" y="2209800"/>
            <a:ext cx="419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080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Columns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668000" y="1524000"/>
            <a:ext cx="4826000" cy="11430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22000" y="1600200"/>
            <a:ext cx="2794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TMDB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22000" y="22098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080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Source (via Kaggle)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62000" y="2921000"/>
            <a:ext cx="8890000" cy="54610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16000" y="30734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Column Definitions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6000" y="3479800"/>
          <a:ext cx="8382000" cy="4699000"/>
        </p:xfrm>
        <a:graphic>
          <a:graphicData uri="http://schemas.openxmlformats.org/drawingml/2006/table">
            <a:tbl>
              <a:tblPr/>
              <a:tblGrid>
                <a:gridCol w="1844040"/>
                <a:gridCol w="3185160"/>
                <a:gridCol w="3352800"/>
              </a:tblGrid>
              <a:tr h="4699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Column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09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Data Type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09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Description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0914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B3B3B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id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B3B3B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Integer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B3B3B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Unique movie identifier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B3B3B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title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B3B3B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String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B3B3B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Movie title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B3B3B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genre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B3B3B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String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B3B3B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Primary genre category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B3B3B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original_language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B3B3B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String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B3B3B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Original release language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B3B3B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release_date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B3B3B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String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B3B3B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Theatrical release date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B3B3B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popularity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B3B3B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Float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B3B3B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TMDB popularity score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B3B3B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vote_average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B3B3B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Float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B3B3B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Average user rating (0-10)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B3B3B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vote_count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B3B3B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Integer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B3B3B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Number of votes received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B3B3B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overview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B3B3B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String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B3B3B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Brief movie description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9906000" y="2921000"/>
            <a:ext cx="5588000" cy="54610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160000" y="30734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Tools &amp; Approach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10160000" y="3479800"/>
            <a:ext cx="5080000" cy="0"/>
          </a:xfrm>
          <a:prstGeom prst="straightConnector1">
            <a:avLst/>
          </a:prstGeom>
          <a:noFill/>
          <a:ln w="12700">
            <a:solidFill>
              <a:srgbClr val="2A2A2A"/>
            </a:solidFill>
            <a:prstDash val="solid"/>
            <a:headEnd type="none"/>
            <a:tailEnd type="none"/>
          </a:ln>
        </p:spPr>
      </p:sp>
      <p:sp>
        <p:nvSpPr>
          <p:cNvPr id="23" name="Shape 20"/>
          <p:cNvSpPr/>
          <p:nvPr/>
        </p:nvSpPr>
        <p:spPr>
          <a:xfrm>
            <a:off x="10144125" y="373380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78991" y="595"/>
                </a:moveTo>
                <a:cubicBezTo>
                  <a:pt x="170557" y="-1836"/>
                  <a:pt x="161776" y="3076"/>
                  <a:pt x="159345" y="11509"/>
                </a:cubicBezTo>
                <a:lnTo>
                  <a:pt x="95845" y="233759"/>
                </a:lnTo>
                <a:cubicBezTo>
                  <a:pt x="93414" y="242193"/>
                  <a:pt x="98326" y="250974"/>
                  <a:pt x="106759" y="253405"/>
                </a:cubicBezTo>
                <a:cubicBezTo>
                  <a:pt x="115193" y="255836"/>
                  <a:pt x="123974" y="250924"/>
                  <a:pt x="126405" y="242491"/>
                </a:cubicBezTo>
                <a:lnTo>
                  <a:pt x="189905" y="20241"/>
                </a:lnTo>
                <a:cubicBezTo>
                  <a:pt x="192336" y="11807"/>
                  <a:pt x="187424" y="3026"/>
                  <a:pt x="178991" y="595"/>
                </a:cubicBezTo>
                <a:close/>
                <a:moveTo>
                  <a:pt x="211038" y="68114"/>
                </a:moveTo>
                <a:cubicBezTo>
                  <a:pt x="204837" y="74315"/>
                  <a:pt x="204837" y="84386"/>
                  <a:pt x="211038" y="90587"/>
                </a:cubicBezTo>
                <a:lnTo>
                  <a:pt x="247452" y="127000"/>
                </a:lnTo>
                <a:lnTo>
                  <a:pt x="211038" y="163413"/>
                </a:lnTo>
                <a:cubicBezTo>
                  <a:pt x="204837" y="169614"/>
                  <a:pt x="204837" y="179685"/>
                  <a:pt x="211038" y="185886"/>
                </a:cubicBezTo>
                <a:cubicBezTo>
                  <a:pt x="217239" y="192087"/>
                  <a:pt x="227310" y="192087"/>
                  <a:pt x="233511" y="185886"/>
                </a:cubicBezTo>
                <a:lnTo>
                  <a:pt x="281136" y="138261"/>
                </a:lnTo>
                <a:cubicBezTo>
                  <a:pt x="287338" y="132060"/>
                  <a:pt x="287338" y="121989"/>
                  <a:pt x="281136" y="115788"/>
                </a:cubicBezTo>
                <a:lnTo>
                  <a:pt x="233511" y="68163"/>
                </a:lnTo>
                <a:cubicBezTo>
                  <a:pt x="227310" y="61962"/>
                  <a:pt x="217239" y="61962"/>
                  <a:pt x="211038" y="68163"/>
                </a:cubicBezTo>
                <a:close/>
                <a:moveTo>
                  <a:pt x="74761" y="68114"/>
                </a:moveTo>
                <a:cubicBezTo>
                  <a:pt x="68560" y="61912"/>
                  <a:pt x="58489" y="61912"/>
                  <a:pt x="52288" y="68114"/>
                </a:cubicBezTo>
                <a:lnTo>
                  <a:pt x="4663" y="115739"/>
                </a:lnTo>
                <a:cubicBezTo>
                  <a:pt x="-1538" y="121940"/>
                  <a:pt x="-1538" y="132011"/>
                  <a:pt x="4663" y="138212"/>
                </a:cubicBezTo>
                <a:lnTo>
                  <a:pt x="52288" y="185837"/>
                </a:lnTo>
                <a:cubicBezTo>
                  <a:pt x="58489" y="192038"/>
                  <a:pt x="68560" y="192038"/>
                  <a:pt x="74761" y="185837"/>
                </a:cubicBezTo>
                <a:cubicBezTo>
                  <a:pt x="80962" y="179636"/>
                  <a:pt x="80962" y="169565"/>
                  <a:pt x="74761" y="163364"/>
                </a:cubicBezTo>
                <a:lnTo>
                  <a:pt x="38348" y="127000"/>
                </a:lnTo>
                <a:lnTo>
                  <a:pt x="74712" y="90587"/>
                </a:lnTo>
                <a:cubicBezTo>
                  <a:pt x="80913" y="84386"/>
                  <a:pt x="80913" y="74315"/>
                  <a:pt x="74712" y="68114"/>
                </a:cubicBezTo>
                <a:close/>
              </a:path>
            </a:pathLst>
          </a:custGeom>
          <a:solidFill>
            <a:srgbClr val="E50914"/>
          </a:solidFill>
          <a:ln/>
        </p:spPr>
      </p:sp>
      <p:sp>
        <p:nvSpPr>
          <p:cNvPr id="24" name="Text 21"/>
          <p:cNvSpPr/>
          <p:nvPr/>
        </p:nvSpPr>
        <p:spPr>
          <a:xfrm>
            <a:off x="10541000" y="3683000"/>
            <a:ext cx="46990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Primary programming language for data analysis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10175875" y="47752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127000" y="79375"/>
                </a:moveTo>
                <a:lnTo>
                  <a:pt x="127000" y="127000"/>
                </a:lnTo>
                <a:lnTo>
                  <a:pt x="190500" y="127000"/>
                </a:lnTo>
                <a:lnTo>
                  <a:pt x="190500" y="79375"/>
                </a:lnTo>
                <a:lnTo>
                  <a:pt x="127000" y="79375"/>
                </a:lnTo>
                <a:close/>
                <a:moveTo>
                  <a:pt x="95250" y="79375"/>
                </a:moveTo>
                <a:lnTo>
                  <a:pt x="31750" y="79375"/>
                </a:lnTo>
                <a:lnTo>
                  <a:pt x="31750" y="127000"/>
                </a:lnTo>
                <a:lnTo>
                  <a:pt x="95250" y="127000"/>
                </a:lnTo>
                <a:lnTo>
                  <a:pt x="95250" y="79375"/>
                </a:lnTo>
                <a:close/>
                <a:moveTo>
                  <a:pt x="0" y="158750"/>
                </a:moveTo>
                <a:lnTo>
                  <a:pt x="0" y="47625"/>
                </a:lnTo>
                <a:cubicBezTo>
                  <a:pt x="0" y="30113"/>
                  <a:pt x="14238" y="15875"/>
                  <a:pt x="31750" y="15875"/>
                </a:cubicBezTo>
                <a:lnTo>
                  <a:pt x="190500" y="15875"/>
                </a:lnTo>
                <a:cubicBezTo>
                  <a:pt x="208012" y="15875"/>
                  <a:pt x="222250" y="30113"/>
                  <a:pt x="222250" y="47625"/>
                </a:cubicBezTo>
                <a:lnTo>
                  <a:pt x="222250" y="206375"/>
                </a:lnTo>
                <a:cubicBezTo>
                  <a:pt x="222250" y="223887"/>
                  <a:pt x="208012" y="238125"/>
                  <a:pt x="190500" y="238125"/>
                </a:cubicBezTo>
                <a:lnTo>
                  <a:pt x="31750" y="238125"/>
                </a:lnTo>
                <a:cubicBezTo>
                  <a:pt x="14238" y="238125"/>
                  <a:pt x="0" y="223887"/>
                  <a:pt x="0" y="206375"/>
                </a:cubicBezTo>
                <a:lnTo>
                  <a:pt x="0" y="158750"/>
                </a:lnTo>
                <a:close/>
                <a:moveTo>
                  <a:pt x="190500" y="158750"/>
                </a:moveTo>
                <a:lnTo>
                  <a:pt x="127000" y="158750"/>
                </a:lnTo>
                <a:lnTo>
                  <a:pt x="127000" y="206375"/>
                </a:lnTo>
                <a:lnTo>
                  <a:pt x="190500" y="206375"/>
                </a:lnTo>
                <a:lnTo>
                  <a:pt x="190500" y="158750"/>
                </a:lnTo>
                <a:close/>
                <a:moveTo>
                  <a:pt x="95250" y="206375"/>
                </a:moveTo>
                <a:lnTo>
                  <a:pt x="95250" y="158750"/>
                </a:lnTo>
                <a:lnTo>
                  <a:pt x="31750" y="158750"/>
                </a:lnTo>
                <a:lnTo>
                  <a:pt x="31750" y="206375"/>
                </a:lnTo>
                <a:lnTo>
                  <a:pt x="95250" y="206375"/>
                </a:lnTo>
                <a:close/>
              </a:path>
            </a:pathLst>
          </a:custGeom>
          <a:solidFill>
            <a:srgbClr val="E50914"/>
          </a:solidFill>
          <a:ln/>
        </p:spPr>
      </p:sp>
      <p:sp>
        <p:nvSpPr>
          <p:cNvPr id="26" name="Text 23"/>
          <p:cNvSpPr/>
          <p:nvPr/>
        </p:nvSpPr>
        <p:spPr>
          <a:xfrm>
            <a:off x="10541000" y="4724400"/>
            <a:ext cx="46990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Pandas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manipulation and analysis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10160000" y="5816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31750"/>
                </a:moveTo>
                <a:cubicBezTo>
                  <a:pt x="31750" y="22969"/>
                  <a:pt x="24656" y="15875"/>
                  <a:pt x="15875" y="15875"/>
                </a:cubicBezTo>
                <a:cubicBezTo>
                  <a:pt x="7094" y="15875"/>
                  <a:pt x="0" y="22969"/>
                  <a:pt x="0" y="31750"/>
                </a:cubicBezTo>
                <a:lnTo>
                  <a:pt x="0" y="198438"/>
                </a:lnTo>
                <a:cubicBezTo>
                  <a:pt x="0" y="220365"/>
                  <a:pt x="17760" y="238125"/>
                  <a:pt x="39688" y="238125"/>
                </a:cubicBezTo>
                <a:lnTo>
                  <a:pt x="238125" y="238125"/>
                </a:lnTo>
                <a:cubicBezTo>
                  <a:pt x="246906" y="238125"/>
                  <a:pt x="254000" y="231031"/>
                  <a:pt x="254000" y="222250"/>
                </a:cubicBezTo>
                <a:cubicBezTo>
                  <a:pt x="254000" y="213469"/>
                  <a:pt x="246906" y="206375"/>
                  <a:pt x="238125" y="206375"/>
                </a:cubicBezTo>
                <a:lnTo>
                  <a:pt x="39688" y="206375"/>
                </a:lnTo>
                <a:cubicBezTo>
                  <a:pt x="35322" y="206375"/>
                  <a:pt x="31750" y="202803"/>
                  <a:pt x="31750" y="198438"/>
                </a:cubicBezTo>
                <a:lnTo>
                  <a:pt x="31750" y="31750"/>
                </a:lnTo>
                <a:close/>
                <a:moveTo>
                  <a:pt x="233462" y="74712"/>
                </a:moveTo>
                <a:cubicBezTo>
                  <a:pt x="239663" y="68511"/>
                  <a:pt x="239663" y="58440"/>
                  <a:pt x="233462" y="52239"/>
                </a:cubicBezTo>
                <a:cubicBezTo>
                  <a:pt x="227261" y="46037"/>
                  <a:pt x="217190" y="46037"/>
                  <a:pt x="210989" y="52239"/>
                </a:cubicBezTo>
                <a:lnTo>
                  <a:pt x="158750" y="104527"/>
                </a:lnTo>
                <a:lnTo>
                  <a:pt x="130274" y="76101"/>
                </a:lnTo>
                <a:cubicBezTo>
                  <a:pt x="124073" y="69900"/>
                  <a:pt x="114002" y="69900"/>
                  <a:pt x="107801" y="76101"/>
                </a:cubicBezTo>
                <a:lnTo>
                  <a:pt x="60176" y="123726"/>
                </a:lnTo>
                <a:cubicBezTo>
                  <a:pt x="53975" y="129927"/>
                  <a:pt x="53975" y="139998"/>
                  <a:pt x="60176" y="146199"/>
                </a:cubicBezTo>
                <a:cubicBezTo>
                  <a:pt x="66377" y="152400"/>
                  <a:pt x="76448" y="152400"/>
                  <a:pt x="82649" y="146199"/>
                </a:cubicBezTo>
                <a:lnTo>
                  <a:pt x="119063" y="109786"/>
                </a:lnTo>
                <a:lnTo>
                  <a:pt x="147538" y="138261"/>
                </a:lnTo>
                <a:cubicBezTo>
                  <a:pt x="153739" y="144463"/>
                  <a:pt x="163810" y="144463"/>
                  <a:pt x="170011" y="138261"/>
                </a:cubicBezTo>
                <a:lnTo>
                  <a:pt x="233511" y="74761"/>
                </a:lnTo>
                <a:close/>
              </a:path>
            </a:pathLst>
          </a:custGeom>
          <a:solidFill>
            <a:srgbClr val="E50914"/>
          </a:solidFill>
          <a:ln/>
        </p:spPr>
      </p:sp>
      <p:sp>
        <p:nvSpPr>
          <p:cNvPr id="28" name="Text 25"/>
          <p:cNvSpPr/>
          <p:nvPr/>
        </p:nvSpPr>
        <p:spPr>
          <a:xfrm>
            <a:off x="10541000" y="5765800"/>
            <a:ext cx="46990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Matplotlib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visualization and charting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10160000" y="6858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5875" y="15875"/>
                </a:moveTo>
                <a:cubicBezTo>
                  <a:pt x="24656" y="15875"/>
                  <a:pt x="31750" y="22969"/>
                  <a:pt x="31750" y="31750"/>
                </a:cubicBezTo>
                <a:lnTo>
                  <a:pt x="31750" y="198438"/>
                </a:lnTo>
                <a:cubicBezTo>
                  <a:pt x="31750" y="202803"/>
                  <a:pt x="35322" y="206375"/>
                  <a:pt x="39688" y="206375"/>
                </a:cubicBezTo>
                <a:lnTo>
                  <a:pt x="238125" y="206375"/>
                </a:lnTo>
                <a:cubicBezTo>
                  <a:pt x="246906" y="206375"/>
                  <a:pt x="254000" y="213469"/>
                  <a:pt x="254000" y="222250"/>
                </a:cubicBezTo>
                <a:cubicBezTo>
                  <a:pt x="254000" y="231031"/>
                  <a:pt x="246906" y="238125"/>
                  <a:pt x="238125" y="238125"/>
                </a:cubicBezTo>
                <a:lnTo>
                  <a:pt x="39688" y="238125"/>
                </a:lnTo>
                <a:cubicBezTo>
                  <a:pt x="17760" y="238125"/>
                  <a:pt x="0" y="220365"/>
                  <a:pt x="0" y="198438"/>
                </a:cubicBezTo>
                <a:lnTo>
                  <a:pt x="0" y="31750"/>
                </a:lnTo>
                <a:cubicBezTo>
                  <a:pt x="0" y="22969"/>
                  <a:pt x="7094" y="15875"/>
                  <a:pt x="15875" y="15875"/>
                </a:cubicBezTo>
                <a:close/>
                <a:moveTo>
                  <a:pt x="63500" y="47625"/>
                </a:moveTo>
                <a:cubicBezTo>
                  <a:pt x="63500" y="38844"/>
                  <a:pt x="70594" y="31750"/>
                  <a:pt x="79375" y="31750"/>
                </a:cubicBezTo>
                <a:lnTo>
                  <a:pt x="174625" y="31750"/>
                </a:lnTo>
                <a:cubicBezTo>
                  <a:pt x="183406" y="31750"/>
                  <a:pt x="190500" y="38844"/>
                  <a:pt x="190500" y="47625"/>
                </a:cubicBezTo>
                <a:cubicBezTo>
                  <a:pt x="190500" y="56406"/>
                  <a:pt x="183406" y="63500"/>
                  <a:pt x="174625" y="63500"/>
                </a:cubicBezTo>
                <a:lnTo>
                  <a:pt x="79375" y="63500"/>
                </a:lnTo>
                <a:cubicBezTo>
                  <a:pt x="70594" y="63500"/>
                  <a:pt x="63500" y="56406"/>
                  <a:pt x="63500" y="47625"/>
                </a:cubicBezTo>
                <a:close/>
                <a:moveTo>
                  <a:pt x="79375" y="87313"/>
                </a:moveTo>
                <a:lnTo>
                  <a:pt x="142875" y="87313"/>
                </a:lnTo>
                <a:cubicBezTo>
                  <a:pt x="151656" y="87313"/>
                  <a:pt x="158750" y="94407"/>
                  <a:pt x="158750" y="103188"/>
                </a:cubicBezTo>
                <a:cubicBezTo>
                  <a:pt x="158750" y="111968"/>
                  <a:pt x="151656" y="119063"/>
                  <a:pt x="142875" y="119063"/>
                </a:cubicBezTo>
                <a:lnTo>
                  <a:pt x="79375" y="119063"/>
                </a:lnTo>
                <a:cubicBezTo>
                  <a:pt x="70594" y="119063"/>
                  <a:pt x="63500" y="111968"/>
                  <a:pt x="63500" y="103188"/>
                </a:cubicBezTo>
                <a:cubicBezTo>
                  <a:pt x="63500" y="94407"/>
                  <a:pt x="70594" y="87313"/>
                  <a:pt x="79375" y="87313"/>
                </a:cubicBezTo>
                <a:close/>
                <a:moveTo>
                  <a:pt x="79375" y="142875"/>
                </a:moveTo>
                <a:lnTo>
                  <a:pt x="206375" y="142875"/>
                </a:lnTo>
                <a:cubicBezTo>
                  <a:pt x="215156" y="142875"/>
                  <a:pt x="222250" y="149969"/>
                  <a:pt x="222250" y="158750"/>
                </a:cubicBezTo>
                <a:cubicBezTo>
                  <a:pt x="222250" y="167531"/>
                  <a:pt x="215156" y="174625"/>
                  <a:pt x="206375" y="174625"/>
                </a:cubicBezTo>
                <a:lnTo>
                  <a:pt x="79375" y="174625"/>
                </a:lnTo>
                <a:cubicBezTo>
                  <a:pt x="70594" y="174625"/>
                  <a:pt x="63500" y="167531"/>
                  <a:pt x="63500" y="158750"/>
                </a:cubicBezTo>
                <a:cubicBezTo>
                  <a:pt x="63500" y="149969"/>
                  <a:pt x="70594" y="142875"/>
                  <a:pt x="79375" y="142875"/>
                </a:cubicBezTo>
                <a:close/>
              </a:path>
            </a:pathLst>
          </a:custGeom>
          <a:solidFill>
            <a:srgbClr val="E50914"/>
          </a:solidFill>
          <a:ln/>
        </p:spPr>
      </p:sp>
      <p:sp>
        <p:nvSpPr>
          <p:cNvPr id="30" name="Text 27"/>
          <p:cNvSpPr/>
          <p:nvPr/>
        </p:nvSpPr>
        <p:spPr>
          <a:xfrm>
            <a:off x="10541000" y="6807200"/>
            <a:ext cx="46990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Seaborn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Statistical data visualization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50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E509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8737600"/>
            <a:ext cx="14732000" cy="0"/>
          </a:xfrm>
          <a:prstGeom prst="straightConnector1">
            <a:avLst/>
          </a:prstGeom>
          <a:noFill/>
          <a:ln w="12700">
            <a:solidFill>
              <a:srgbClr val="2A2A2A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762000" y="8788400"/>
            <a:ext cx="508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8080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NETFLIX MOVIE DATA ANALYSIS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4732000" y="87884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8080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62000" y="889000"/>
            <a:ext cx="50800" cy="3556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7" name="Text 5"/>
          <p:cNvSpPr/>
          <p:nvPr/>
        </p:nvSpPr>
        <p:spPr>
          <a:xfrm>
            <a:off x="965200" y="838200"/>
            <a:ext cx="635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Cleaning Process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62000" y="1524000"/>
            <a:ext cx="2286000" cy="22860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2000" y="1651000"/>
            <a:ext cx="228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E509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38200" y="2108200"/>
            <a:ext cx="21336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 &amp; Load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3600" y="2438400"/>
            <a:ext cx="20828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Loaded dataset using pandas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048000" y="2540000"/>
            <a:ext cx="254000" cy="0"/>
          </a:xfrm>
          <a:prstGeom prst="straightConnector1">
            <a:avLst/>
          </a:prstGeom>
          <a:noFill/>
          <a:ln w="25400">
            <a:solidFill>
              <a:srgbClr val="E50914"/>
            </a:solidFill>
            <a:prstDash val="solid"/>
            <a:headEnd type="none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3302000" y="1524000"/>
            <a:ext cx="2286000" cy="22860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02000" y="1651000"/>
            <a:ext cx="228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E509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78200" y="2108200"/>
            <a:ext cx="21336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Missing Values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03600" y="2438400"/>
            <a:ext cx="2082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Checked nulls in genre, vote, popularity columns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588000" y="2540000"/>
            <a:ext cx="254000" cy="0"/>
          </a:xfrm>
          <a:prstGeom prst="straightConnector1">
            <a:avLst/>
          </a:prstGeom>
          <a:noFill/>
          <a:ln w="25400">
            <a:solidFill>
              <a:srgbClr val="E50914"/>
            </a:solidFill>
            <a:prstDash val="solid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5842000" y="1524000"/>
            <a:ext cx="2286000" cy="22860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42000" y="1651000"/>
            <a:ext cx="228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E509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918200" y="2108200"/>
            <a:ext cx="21336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Types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943600" y="2438400"/>
            <a:ext cx="2082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Converted dates to datetime, numeric to float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128000" y="2540000"/>
            <a:ext cx="254000" cy="0"/>
          </a:xfrm>
          <a:prstGeom prst="straightConnector1">
            <a:avLst/>
          </a:prstGeom>
          <a:noFill/>
          <a:ln w="25400">
            <a:solidFill>
              <a:srgbClr val="E50914"/>
            </a:solidFill>
            <a:prstDash val="solid"/>
            <a:headEnd type="none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8382000" y="1524000"/>
            <a:ext cx="2286000" cy="22860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82000" y="1651000"/>
            <a:ext cx="228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E509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458200" y="2108200"/>
            <a:ext cx="21336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Duplicates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483600" y="2438400"/>
            <a:ext cx="2082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Removed duplicates by title and release date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668000" y="2540000"/>
            <a:ext cx="254000" cy="0"/>
          </a:xfrm>
          <a:prstGeom prst="straightConnector1">
            <a:avLst/>
          </a:prstGeom>
          <a:noFill/>
          <a:ln w="25400">
            <a:solidFill>
              <a:srgbClr val="E50914"/>
            </a:solidFill>
            <a:prstDash val="solid"/>
            <a:headEnd type="none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10922000" y="1524000"/>
            <a:ext cx="2286000" cy="22860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922000" y="1651000"/>
            <a:ext cx="228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E509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998200" y="2108200"/>
            <a:ext cx="21336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Eng.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023600" y="2438400"/>
            <a:ext cx="2082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Extracted release_year for time series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3208000" y="2540000"/>
            <a:ext cx="254000" cy="0"/>
          </a:xfrm>
          <a:prstGeom prst="straightConnector1">
            <a:avLst/>
          </a:prstGeom>
          <a:noFill/>
          <a:ln w="25400">
            <a:solidFill>
              <a:srgbClr val="E50914"/>
            </a:solidFill>
            <a:prstDash val="solid"/>
            <a:headEnd type="none"/>
            <a:tailEnd type="arrow"/>
          </a:ln>
        </p:spPr>
      </p:sp>
      <p:sp>
        <p:nvSpPr>
          <p:cNvPr id="33" name="Shape 31"/>
          <p:cNvSpPr/>
          <p:nvPr/>
        </p:nvSpPr>
        <p:spPr>
          <a:xfrm>
            <a:off x="13462000" y="1524000"/>
            <a:ext cx="2032000" cy="22860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462000" y="1651000"/>
            <a:ext cx="203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E509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3538200" y="2108200"/>
            <a:ext cx="18796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Validation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3563600" y="2438400"/>
            <a:ext cx="1828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Verified ranges, standardized genres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62000" y="4064000"/>
            <a:ext cx="14732000" cy="762000"/>
          </a:xfrm>
          <a:prstGeom prst="roundRect">
            <a:avLst>
              <a:gd name="adj" fmla="val 6000"/>
            </a:avLst>
          </a:prstGeom>
          <a:solidFill>
            <a:srgbClr val="E50914">
              <a:alpha val="9412"/>
            </a:srgbClr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92200" y="42672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236418" y="147727"/>
                </a:moveTo>
                <a:lnTo>
                  <a:pt x="180856" y="236627"/>
                </a:lnTo>
                <a:cubicBezTo>
                  <a:pt x="177939" y="241280"/>
                  <a:pt x="172938" y="244197"/>
                  <a:pt x="167451" y="244475"/>
                </a:cubicBezTo>
                <a:cubicBezTo>
                  <a:pt x="161965" y="244753"/>
                  <a:pt x="156686" y="242253"/>
                  <a:pt x="153422" y="237808"/>
                </a:cubicBezTo>
                <a:lnTo>
                  <a:pt x="120084" y="193357"/>
                </a:lnTo>
                <a:cubicBezTo>
                  <a:pt x="114528" y="185995"/>
                  <a:pt x="116056" y="175577"/>
                  <a:pt x="123418" y="170021"/>
                </a:cubicBezTo>
                <a:cubicBezTo>
                  <a:pt x="130780" y="164465"/>
                  <a:pt x="141198" y="165993"/>
                  <a:pt x="146754" y="173355"/>
                </a:cubicBezTo>
                <a:lnTo>
                  <a:pt x="165507" y="198358"/>
                </a:lnTo>
                <a:lnTo>
                  <a:pt x="208151" y="130086"/>
                </a:lnTo>
                <a:cubicBezTo>
                  <a:pt x="213013" y="122307"/>
                  <a:pt x="223292" y="119876"/>
                  <a:pt x="231140" y="124807"/>
                </a:cubicBezTo>
                <a:cubicBezTo>
                  <a:pt x="238988" y="129738"/>
                  <a:pt x="241350" y="139948"/>
                  <a:pt x="236418" y="147796"/>
                </a:cubicBezTo>
                <a:close/>
              </a:path>
            </a:pathLst>
          </a:custGeom>
          <a:solidFill>
            <a:srgbClr val="E50914"/>
          </a:solidFill>
          <a:ln/>
        </p:spPr>
      </p:sp>
      <p:sp>
        <p:nvSpPr>
          <p:cNvPr id="39" name="Text 37"/>
          <p:cNvSpPr/>
          <p:nvPr/>
        </p:nvSpPr>
        <p:spPr>
          <a:xfrm>
            <a:off x="1574800" y="4216400"/>
            <a:ext cx="13665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Result: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Clean dataset with </a:t>
            </a:r>
            <a:pPr>
              <a:lnSpc>
                <a:spcPct val="100000"/>
              </a:lnSpc>
            </a:pPr>
            <a:r>
              <a:rPr lang="en-US" sz="1600" b="1" dirty="0">
                <a:solidFill>
                  <a:srgbClr val="E509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9,000+ validated records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no duplicates, ready for analysis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62000" y="5080000"/>
            <a:ext cx="14732000" cy="342900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16000" y="52324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Operations Summary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016000" y="5638800"/>
            <a:ext cx="14224000" cy="0"/>
          </a:xfrm>
          <a:prstGeom prst="straightConnector1">
            <a:avLst/>
          </a:prstGeom>
          <a:noFill/>
          <a:ln w="12700">
            <a:solidFill>
              <a:srgbClr val="2A2A2A"/>
            </a:solidFill>
            <a:prstDash val="solid"/>
            <a:headEnd type="none"/>
            <a:tailEnd type="none"/>
          </a:ln>
        </p:spPr>
      </p:sp>
      <p:sp>
        <p:nvSpPr>
          <p:cNvPr id="43" name="Text 41"/>
          <p:cNvSpPr/>
          <p:nvPr/>
        </p:nvSpPr>
        <p:spPr>
          <a:xfrm>
            <a:off x="1016000" y="5842000"/>
            <a:ext cx="6858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E509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df = pd.read_csv('movies.csv')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Load dataset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E509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df.isnull().sum()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Check missing values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E509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df.drop_duplicates()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Remove duplicates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E509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df['release_date'] = pd.to_datetime()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Type conversion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128000" y="5842000"/>
            <a:ext cx="6858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E509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df['release_year'] = df['release_date'].dt.year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Feature engineering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E509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df['vote_average'].describe()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Statistical summary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E509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df['genre'].value_counts()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Genre frequency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E509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df['popularity'].sort_values()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Popularity ranking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50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E509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8737600"/>
            <a:ext cx="14732000" cy="0"/>
          </a:xfrm>
          <a:prstGeom prst="straightConnector1">
            <a:avLst/>
          </a:prstGeom>
          <a:noFill/>
          <a:ln w="12700">
            <a:solidFill>
              <a:srgbClr val="2A2A2A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762000" y="8788400"/>
            <a:ext cx="508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8080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NETFLIX MOVIE DATA ANALYSIS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4732000" y="87884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8080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62000" y="889000"/>
            <a:ext cx="50800" cy="3556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7" name="Text 5"/>
          <p:cNvSpPr/>
          <p:nvPr/>
        </p:nvSpPr>
        <p:spPr>
          <a:xfrm>
            <a:off x="965200" y="838200"/>
            <a:ext cx="762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Genre Analysis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65200" y="13208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080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Drama dominates Netflix's movie library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62000" y="1778000"/>
            <a:ext cx="8636000" cy="54610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graphicFrame>
        <p:nvGraphicFramePr>
          <p:cNvPr id="10" name="Chart 0" descr=""/>
          <p:cNvGraphicFramePr/>
          <p:nvPr/>
        </p:nvGraphicFramePr>
        <p:xfrm>
          <a:off x="1016000" y="1981200"/>
          <a:ext cx="8128000" cy="5080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9652000" y="1778000"/>
            <a:ext cx="5842000" cy="26670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906000" y="19304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9906000" y="2286000"/>
            <a:ext cx="5334000" cy="0"/>
          </a:xfrm>
          <a:prstGeom prst="straightConnector1">
            <a:avLst/>
          </a:prstGeom>
          <a:noFill/>
          <a:ln w="12700">
            <a:solidFill>
              <a:srgbClr val="2A2A2A"/>
            </a:solidFill>
            <a:prstDash val="solid"/>
            <a:headEnd type="none"/>
            <a:tailEnd type="none"/>
          </a:ln>
        </p:spPr>
      </p:sp>
      <p:sp>
        <p:nvSpPr>
          <p:cNvPr id="14" name="Text 11"/>
          <p:cNvSpPr/>
          <p:nvPr/>
        </p:nvSpPr>
        <p:spPr>
          <a:xfrm>
            <a:off x="9906000" y="2413000"/>
            <a:ext cx="5334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E509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Drama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 the most frequent genre with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2,100+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movies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 5 genres account for 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72%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of all movies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Drama's broad appeal makes it a safe content investment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9652000" y="4699000"/>
            <a:ext cx="5842000" cy="27432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906000" y="48514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 5 Genres by Count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9906000" y="5207000"/>
            <a:ext cx="5334000" cy="0"/>
          </a:xfrm>
          <a:prstGeom prst="straightConnector1">
            <a:avLst/>
          </a:prstGeom>
          <a:noFill/>
          <a:ln w="12700">
            <a:solidFill>
              <a:srgbClr val="2A2A2A"/>
            </a:solidFill>
            <a:prstDash val="solid"/>
            <a:headEnd type="none"/>
            <a:tailEnd type="none"/>
          </a:ln>
        </p:spPr>
      </p:sp>
      <p:sp>
        <p:nvSpPr>
          <p:cNvPr id="18" name="Text 15"/>
          <p:cNvSpPr/>
          <p:nvPr/>
        </p:nvSpPr>
        <p:spPr>
          <a:xfrm>
            <a:off x="9906000" y="5334000"/>
            <a:ext cx="5334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E509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Drama ...........................................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2,100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E509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Comedy .......................................... 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1,100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E509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Action ............................................. 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950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E509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Thriller ............................................ 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720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E509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5.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Romance ......................................... 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580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62000" y="74676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E50914">
              <a:alpha val="7059"/>
            </a:srgbClr>
          </a:solidFill>
          <a:ln w="12700">
            <a:solidFill>
              <a:srgbClr val="B2071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054100" y="77724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E50914"/>
          </a:solidFill>
          <a:ln/>
        </p:spPr>
      </p:sp>
      <p:sp>
        <p:nvSpPr>
          <p:cNvPr id="21" name="Text 18"/>
          <p:cNvSpPr/>
          <p:nvPr/>
        </p:nvSpPr>
        <p:spPr>
          <a:xfrm>
            <a:off x="1473200" y="7620000"/>
            <a:ext cx="13766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Insight: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Drama is the backbone of Netflix's catalog. Genre-hybrid films (e.g., Drama-Thriller) maximize cross-audience reach and should be prioritized in content acquisition.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50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E509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8737600"/>
            <a:ext cx="14732000" cy="0"/>
          </a:xfrm>
          <a:prstGeom prst="straightConnector1">
            <a:avLst/>
          </a:prstGeom>
          <a:noFill/>
          <a:ln w="12700">
            <a:solidFill>
              <a:srgbClr val="2A2A2A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762000" y="8788400"/>
            <a:ext cx="508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8080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NETFLIX MOVIE DATA ANALYSIS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4732000" y="87884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8080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62000" y="889000"/>
            <a:ext cx="50800" cy="3556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7" name="Text 5"/>
          <p:cNvSpPr/>
          <p:nvPr/>
        </p:nvSpPr>
        <p:spPr>
          <a:xfrm>
            <a:off x="965200" y="8382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Popularity Analysis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65200" y="13208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080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Franchise blockbusters drive the highest attention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62000" y="1778000"/>
            <a:ext cx="7112000" cy="16510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12700">
            <a:solidFill>
              <a:srgbClr val="E50914">
                <a:alpha val="18824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5200" y="1955800"/>
            <a:ext cx="1270000" cy="279400"/>
          </a:xfrm>
          <a:prstGeom prst="roundRect">
            <a:avLst>
              <a:gd name="adj" fmla="val 12000"/>
            </a:avLst>
          </a:prstGeom>
          <a:solidFill>
            <a:srgbClr val="E50914"/>
          </a:solidFill>
          <a:ln/>
        </p:spPr>
      </p:sp>
      <p:sp>
        <p:nvSpPr>
          <p:cNvPr id="11" name="Text 9"/>
          <p:cNvSpPr/>
          <p:nvPr/>
        </p:nvSpPr>
        <p:spPr>
          <a:xfrm>
            <a:off x="965200" y="1955800"/>
            <a:ext cx="127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HIGHEST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5200" y="2336800"/>
            <a:ext cx="66548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Spider-Man: No Way Home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5200" y="2717800"/>
            <a:ext cx="66548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Score: </a:t>
            </a:r>
            <a:pPr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508.36</a:t>
            </a:r>
            <a:pPr>
              <a:lnSpc>
                <a:spcPct val="100000"/>
              </a:lnSpc>
            </a:pPr>
            <a:r>
              <a:rPr lang="en-US" sz="13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| Genre: Action, Adventure, Sci-Fi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28000" y="1778000"/>
            <a:ext cx="7366000" cy="16510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31200" y="1955800"/>
            <a:ext cx="1270000" cy="279400"/>
          </a:xfrm>
          <a:prstGeom prst="roundRect">
            <a:avLst>
              <a:gd name="adj" fmla="val 12000"/>
            </a:avLst>
          </a:prstGeom>
          <a:solidFill>
            <a:srgbClr val="2A2A2A"/>
          </a:solidFill>
          <a:ln/>
        </p:spPr>
      </p:sp>
      <p:sp>
        <p:nvSpPr>
          <p:cNvPr id="16" name="Text 14"/>
          <p:cNvSpPr/>
          <p:nvPr/>
        </p:nvSpPr>
        <p:spPr>
          <a:xfrm>
            <a:off x="8331200" y="1955800"/>
            <a:ext cx="127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LOWEST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31200" y="2336800"/>
            <a:ext cx="69088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United States vs. Billie Holiday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31200" y="2717800"/>
            <a:ext cx="69088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Score: </a:t>
            </a:r>
            <a:pPr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0.60</a:t>
            </a:r>
            <a:pPr>
              <a:lnSpc>
                <a:spcPct val="100000"/>
              </a:lnSpc>
            </a:pPr>
            <a:r>
              <a:rPr lang="en-US" sz="13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| Genre: Music, Drama, History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3683000"/>
            <a:ext cx="9525000" cy="45720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graphicFrame>
        <p:nvGraphicFramePr>
          <p:cNvPr id="20" name="Chart 0" descr=""/>
          <p:cNvGraphicFramePr/>
          <p:nvPr/>
        </p:nvGraphicFramePr>
        <p:xfrm>
          <a:off x="1016000" y="3886200"/>
          <a:ext cx="9017000" cy="4191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Shape 18"/>
          <p:cNvSpPr/>
          <p:nvPr/>
        </p:nvSpPr>
        <p:spPr>
          <a:xfrm>
            <a:off x="10541000" y="3683000"/>
            <a:ext cx="4953000" cy="45720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795000" y="38862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Observations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10795000" y="4241800"/>
            <a:ext cx="4445000" cy="0"/>
          </a:xfrm>
          <a:prstGeom prst="straightConnector1">
            <a:avLst/>
          </a:prstGeom>
          <a:noFill/>
          <a:ln w="12700">
            <a:solidFill>
              <a:srgbClr val="2A2A2A"/>
            </a:solidFill>
            <a:prstDash val="solid"/>
            <a:headEnd type="none"/>
            <a:tailEnd type="none"/>
          </a:ln>
        </p:spPr>
      </p:sp>
      <p:sp>
        <p:nvSpPr>
          <p:cNvPr id="24" name="Shape 21"/>
          <p:cNvSpPr/>
          <p:nvPr/>
        </p:nvSpPr>
        <p:spPr>
          <a:xfrm>
            <a:off x="10823575" y="44704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95816" y="7769"/>
                </a:moveTo>
                <a:cubicBezTo>
                  <a:pt x="90234" y="2188"/>
                  <a:pt x="81171" y="2188"/>
                  <a:pt x="75590" y="7769"/>
                </a:cubicBezTo>
                <a:lnTo>
                  <a:pt x="4152" y="79206"/>
                </a:lnTo>
                <a:cubicBezTo>
                  <a:pt x="-1429" y="84787"/>
                  <a:pt x="-1429" y="93851"/>
                  <a:pt x="4152" y="99432"/>
                </a:cubicBezTo>
                <a:cubicBezTo>
                  <a:pt x="9733" y="105013"/>
                  <a:pt x="18797" y="105013"/>
                  <a:pt x="24378" y="99432"/>
                </a:cubicBezTo>
                <a:lnTo>
                  <a:pt x="71438" y="52373"/>
                </a:lnTo>
                <a:lnTo>
                  <a:pt x="71438" y="217884"/>
                </a:lnTo>
                <a:cubicBezTo>
                  <a:pt x="71438" y="225787"/>
                  <a:pt x="77822" y="232172"/>
                  <a:pt x="85725" y="232172"/>
                </a:cubicBezTo>
                <a:cubicBezTo>
                  <a:pt x="93628" y="232172"/>
                  <a:pt x="100013" y="225787"/>
                  <a:pt x="100013" y="217884"/>
                </a:cubicBezTo>
                <a:lnTo>
                  <a:pt x="100013" y="52373"/>
                </a:lnTo>
                <a:lnTo>
                  <a:pt x="147072" y="99432"/>
                </a:lnTo>
                <a:cubicBezTo>
                  <a:pt x="152653" y="105013"/>
                  <a:pt x="161717" y="105013"/>
                  <a:pt x="167298" y="99432"/>
                </a:cubicBezTo>
                <a:cubicBezTo>
                  <a:pt x="172879" y="93851"/>
                  <a:pt x="172879" y="84787"/>
                  <a:pt x="167298" y="79206"/>
                </a:cubicBezTo>
                <a:lnTo>
                  <a:pt x="95860" y="7769"/>
                </a:lnTo>
                <a:close/>
              </a:path>
            </a:pathLst>
          </a:custGeom>
          <a:solidFill>
            <a:srgbClr val="E50914"/>
          </a:solidFill>
          <a:ln/>
        </p:spPr>
      </p:sp>
      <p:sp>
        <p:nvSpPr>
          <p:cNvPr id="25" name="Text 22"/>
          <p:cNvSpPr/>
          <p:nvPr/>
        </p:nvSpPr>
        <p:spPr>
          <a:xfrm>
            <a:off x="11150600" y="4394200"/>
            <a:ext cx="4140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Franchise dominance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Marvel/DC films top popularity metrics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10823575" y="53340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75634" y="224403"/>
                </a:moveTo>
                <a:cubicBezTo>
                  <a:pt x="81216" y="229984"/>
                  <a:pt x="90279" y="229984"/>
                  <a:pt x="95860" y="224403"/>
                </a:cubicBezTo>
                <a:lnTo>
                  <a:pt x="167298" y="152966"/>
                </a:lnTo>
                <a:cubicBezTo>
                  <a:pt x="172879" y="147384"/>
                  <a:pt x="172879" y="138321"/>
                  <a:pt x="167298" y="132740"/>
                </a:cubicBezTo>
                <a:cubicBezTo>
                  <a:pt x="161717" y="127159"/>
                  <a:pt x="152653" y="127159"/>
                  <a:pt x="147072" y="132740"/>
                </a:cubicBezTo>
                <a:lnTo>
                  <a:pt x="100013" y="179799"/>
                </a:lnTo>
                <a:lnTo>
                  <a:pt x="100013" y="14288"/>
                </a:lnTo>
                <a:cubicBezTo>
                  <a:pt x="100013" y="6385"/>
                  <a:pt x="93628" y="0"/>
                  <a:pt x="85725" y="0"/>
                </a:cubicBezTo>
                <a:cubicBezTo>
                  <a:pt x="77822" y="0"/>
                  <a:pt x="71438" y="6385"/>
                  <a:pt x="71438" y="14288"/>
                </a:cubicBezTo>
                <a:lnTo>
                  <a:pt x="71438" y="179799"/>
                </a:lnTo>
                <a:lnTo>
                  <a:pt x="24378" y="132740"/>
                </a:lnTo>
                <a:cubicBezTo>
                  <a:pt x="18797" y="127159"/>
                  <a:pt x="9733" y="127159"/>
                  <a:pt x="4152" y="132740"/>
                </a:cubicBezTo>
                <a:cubicBezTo>
                  <a:pt x="-1429" y="138321"/>
                  <a:pt x="-1429" y="147384"/>
                  <a:pt x="4152" y="152966"/>
                </a:cubicBezTo>
                <a:lnTo>
                  <a:pt x="75590" y="224403"/>
                </a:lnTo>
                <a:close/>
              </a:path>
            </a:pathLst>
          </a:custGeom>
          <a:solidFill>
            <a:srgbClr val="808080"/>
          </a:solidFill>
          <a:ln/>
        </p:spPr>
      </p:sp>
      <p:sp>
        <p:nvSpPr>
          <p:cNvPr id="27" name="Text 24"/>
          <p:cNvSpPr/>
          <p:nvPr/>
        </p:nvSpPr>
        <p:spPr>
          <a:xfrm>
            <a:off x="11150600" y="5257800"/>
            <a:ext cx="4140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Niche films trail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Biographical films have lower reach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10795000" y="6197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288" y="14288"/>
                </a:moveTo>
                <a:cubicBezTo>
                  <a:pt x="22190" y="14288"/>
                  <a:pt x="28575" y="20672"/>
                  <a:pt x="28575" y="28575"/>
                </a:cubicBezTo>
                <a:lnTo>
                  <a:pt x="28575" y="178594"/>
                </a:lnTo>
                <a:cubicBezTo>
                  <a:pt x="28575" y="182523"/>
                  <a:pt x="31790" y="185738"/>
                  <a:pt x="35719" y="185738"/>
                </a:cubicBezTo>
                <a:lnTo>
                  <a:pt x="214313" y="185738"/>
                </a:lnTo>
                <a:cubicBezTo>
                  <a:pt x="222215" y="185738"/>
                  <a:pt x="228600" y="192122"/>
                  <a:pt x="228600" y="200025"/>
                </a:cubicBezTo>
                <a:cubicBezTo>
                  <a:pt x="228600" y="207928"/>
                  <a:pt x="222215" y="214313"/>
                  <a:pt x="214313" y="214313"/>
                </a:cubicBezTo>
                <a:lnTo>
                  <a:pt x="35719" y="214313"/>
                </a:lnTo>
                <a:cubicBezTo>
                  <a:pt x="15984" y="214313"/>
                  <a:pt x="0" y="198328"/>
                  <a:pt x="0" y="178594"/>
                </a:cubicBezTo>
                <a:lnTo>
                  <a:pt x="0" y="28575"/>
                </a:lnTo>
                <a:cubicBezTo>
                  <a:pt x="0" y="20672"/>
                  <a:pt x="6385" y="14288"/>
                  <a:pt x="14288" y="14288"/>
                </a:cubicBezTo>
                <a:close/>
                <a:moveTo>
                  <a:pt x="107156" y="42863"/>
                </a:moveTo>
                <a:cubicBezTo>
                  <a:pt x="110148" y="42863"/>
                  <a:pt x="113005" y="44113"/>
                  <a:pt x="115059" y="46345"/>
                </a:cubicBezTo>
                <a:lnTo>
                  <a:pt x="146804" y="80948"/>
                </a:lnTo>
                <a:lnTo>
                  <a:pt x="167432" y="60275"/>
                </a:lnTo>
                <a:cubicBezTo>
                  <a:pt x="171629" y="56078"/>
                  <a:pt x="178415" y="56078"/>
                  <a:pt x="182567" y="60275"/>
                </a:cubicBezTo>
                <a:lnTo>
                  <a:pt x="211142" y="88850"/>
                </a:lnTo>
                <a:cubicBezTo>
                  <a:pt x="213152" y="90860"/>
                  <a:pt x="214268" y="93583"/>
                  <a:pt x="214268" y="96441"/>
                </a:cubicBezTo>
                <a:lnTo>
                  <a:pt x="214268" y="146447"/>
                </a:lnTo>
                <a:cubicBezTo>
                  <a:pt x="214268" y="152385"/>
                  <a:pt x="209490" y="157163"/>
                  <a:pt x="203552" y="157163"/>
                </a:cubicBezTo>
                <a:lnTo>
                  <a:pt x="67821" y="157163"/>
                </a:lnTo>
                <a:cubicBezTo>
                  <a:pt x="61883" y="157163"/>
                  <a:pt x="57105" y="152385"/>
                  <a:pt x="57105" y="146447"/>
                </a:cubicBezTo>
                <a:lnTo>
                  <a:pt x="57105" y="96441"/>
                </a:lnTo>
                <a:cubicBezTo>
                  <a:pt x="57105" y="93762"/>
                  <a:pt x="58132" y="91172"/>
                  <a:pt x="59918" y="89208"/>
                </a:cubicBezTo>
                <a:lnTo>
                  <a:pt x="99209" y="46345"/>
                </a:lnTo>
                <a:cubicBezTo>
                  <a:pt x="101218" y="44113"/>
                  <a:pt x="104120" y="42863"/>
                  <a:pt x="107112" y="42863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29" name="Text 26"/>
          <p:cNvSpPr/>
          <p:nvPr/>
        </p:nvSpPr>
        <p:spPr>
          <a:xfrm>
            <a:off x="11150600" y="6121400"/>
            <a:ext cx="4140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Long tail distribution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Most movies cluster in low-to-mid range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10780713" y="70612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38187" y="-8439"/>
                </a:moveTo>
                <a:cubicBezTo>
                  <a:pt x="136356" y="-12010"/>
                  <a:pt x="132651" y="-14287"/>
                  <a:pt x="128632" y="-14287"/>
                </a:cubicBezTo>
                <a:cubicBezTo>
                  <a:pt x="124614" y="-14287"/>
                  <a:pt x="120908" y="-12010"/>
                  <a:pt x="119077" y="-8439"/>
                </a:cubicBezTo>
                <a:lnTo>
                  <a:pt x="86216" y="55944"/>
                </a:lnTo>
                <a:lnTo>
                  <a:pt x="14823" y="67285"/>
                </a:lnTo>
                <a:cubicBezTo>
                  <a:pt x="10850" y="67910"/>
                  <a:pt x="7546" y="70723"/>
                  <a:pt x="6295" y="74563"/>
                </a:cubicBezTo>
                <a:cubicBezTo>
                  <a:pt x="5045" y="78403"/>
                  <a:pt x="6072" y="82600"/>
                  <a:pt x="8885" y="85457"/>
                </a:cubicBezTo>
                <a:lnTo>
                  <a:pt x="59963" y="136580"/>
                </a:lnTo>
                <a:lnTo>
                  <a:pt x="48711" y="207972"/>
                </a:lnTo>
                <a:cubicBezTo>
                  <a:pt x="48086" y="211946"/>
                  <a:pt x="49738" y="215964"/>
                  <a:pt x="52998" y="218331"/>
                </a:cubicBezTo>
                <a:cubicBezTo>
                  <a:pt x="56257" y="220697"/>
                  <a:pt x="60543" y="221054"/>
                  <a:pt x="64160" y="219224"/>
                </a:cubicBezTo>
                <a:lnTo>
                  <a:pt x="128632" y="186452"/>
                </a:lnTo>
                <a:lnTo>
                  <a:pt x="193060" y="219224"/>
                </a:lnTo>
                <a:cubicBezTo>
                  <a:pt x="196632" y="221054"/>
                  <a:pt x="200963" y="220697"/>
                  <a:pt x="204222" y="218331"/>
                </a:cubicBezTo>
                <a:cubicBezTo>
                  <a:pt x="207481" y="215964"/>
                  <a:pt x="209133" y="211991"/>
                  <a:pt x="208508" y="207972"/>
                </a:cubicBezTo>
                <a:lnTo>
                  <a:pt x="197212" y="136580"/>
                </a:lnTo>
                <a:lnTo>
                  <a:pt x="248290" y="85457"/>
                </a:lnTo>
                <a:cubicBezTo>
                  <a:pt x="251147" y="82600"/>
                  <a:pt x="252130" y="78403"/>
                  <a:pt x="250880" y="74563"/>
                </a:cubicBezTo>
                <a:cubicBezTo>
                  <a:pt x="249629" y="70723"/>
                  <a:pt x="246370" y="67910"/>
                  <a:pt x="242352" y="67285"/>
                </a:cubicBezTo>
                <a:lnTo>
                  <a:pt x="171004" y="55944"/>
                </a:lnTo>
                <a:lnTo>
                  <a:pt x="138187" y="-8439"/>
                </a:lnTo>
                <a:close/>
              </a:path>
            </a:pathLst>
          </a:custGeom>
          <a:solidFill>
            <a:srgbClr val="FFD700"/>
          </a:solidFill>
          <a:ln/>
        </p:spPr>
      </p:sp>
      <p:sp>
        <p:nvSpPr>
          <p:cNvPr id="31" name="Text 28"/>
          <p:cNvSpPr/>
          <p:nvPr/>
        </p:nvSpPr>
        <p:spPr>
          <a:xfrm>
            <a:off x="11150600" y="6985000"/>
            <a:ext cx="4140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 1% outliers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Only ~40 movies exceed 500 popularity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50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E509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8737600"/>
            <a:ext cx="14732000" cy="0"/>
          </a:xfrm>
          <a:prstGeom prst="straightConnector1">
            <a:avLst/>
          </a:prstGeom>
          <a:noFill/>
          <a:ln w="12700">
            <a:solidFill>
              <a:srgbClr val="2A2A2A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762000" y="8788400"/>
            <a:ext cx="508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8080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NETFLIX MOVIE DATA ANALYSIS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4732000" y="87884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8080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62000" y="889000"/>
            <a:ext cx="50800" cy="3556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7" name="Text 5"/>
          <p:cNvSpPr/>
          <p:nvPr/>
        </p:nvSpPr>
        <p:spPr>
          <a:xfrm>
            <a:off x="965200" y="8382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Vote Average Analysis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65200" y="13208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080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Quality and popularity measure different things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62000" y="1778000"/>
            <a:ext cx="14732000" cy="127000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E50914">
                <a:alpha val="18824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2200" y="21082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00221" y="0"/>
                </a:moveTo>
                <a:lnTo>
                  <a:pt x="255796" y="0"/>
                </a:lnTo>
                <a:cubicBezTo>
                  <a:pt x="274201" y="0"/>
                  <a:pt x="289203" y="15141"/>
                  <a:pt x="288508" y="33476"/>
                </a:cubicBezTo>
                <a:cubicBezTo>
                  <a:pt x="288369" y="37157"/>
                  <a:pt x="288230" y="40838"/>
                  <a:pt x="288022" y="44450"/>
                </a:cubicBezTo>
                <a:lnTo>
                  <a:pt x="322471" y="44450"/>
                </a:lnTo>
                <a:cubicBezTo>
                  <a:pt x="340598" y="44450"/>
                  <a:pt x="356572" y="59452"/>
                  <a:pt x="355183" y="79038"/>
                </a:cubicBezTo>
                <a:cubicBezTo>
                  <a:pt x="349974" y="151061"/>
                  <a:pt x="313164" y="190649"/>
                  <a:pt x="273229" y="211346"/>
                </a:cubicBezTo>
                <a:cubicBezTo>
                  <a:pt x="262255" y="217041"/>
                  <a:pt x="251073" y="221278"/>
                  <a:pt x="240447" y="224403"/>
                </a:cubicBezTo>
                <a:cubicBezTo>
                  <a:pt x="226417" y="244267"/>
                  <a:pt x="211832" y="254754"/>
                  <a:pt x="200233" y="260380"/>
                </a:cubicBezTo>
                <a:lnTo>
                  <a:pt x="200233" y="311150"/>
                </a:lnTo>
                <a:lnTo>
                  <a:pt x="244683" y="311150"/>
                </a:lnTo>
                <a:cubicBezTo>
                  <a:pt x="256977" y="311150"/>
                  <a:pt x="266908" y="321082"/>
                  <a:pt x="266908" y="333375"/>
                </a:cubicBezTo>
                <a:cubicBezTo>
                  <a:pt x="266908" y="345668"/>
                  <a:pt x="256977" y="355600"/>
                  <a:pt x="244683" y="355600"/>
                </a:cubicBezTo>
                <a:lnTo>
                  <a:pt x="111333" y="355600"/>
                </a:lnTo>
                <a:cubicBezTo>
                  <a:pt x="99040" y="355600"/>
                  <a:pt x="89108" y="345668"/>
                  <a:pt x="89108" y="333375"/>
                </a:cubicBezTo>
                <a:cubicBezTo>
                  <a:pt x="89108" y="321082"/>
                  <a:pt x="99040" y="311150"/>
                  <a:pt x="111333" y="311150"/>
                </a:cubicBezTo>
                <a:lnTo>
                  <a:pt x="155783" y="311150"/>
                </a:lnTo>
                <a:lnTo>
                  <a:pt x="155783" y="260380"/>
                </a:lnTo>
                <a:cubicBezTo>
                  <a:pt x="144671" y="255032"/>
                  <a:pt x="130850" y="245100"/>
                  <a:pt x="117376" y="226834"/>
                </a:cubicBezTo>
                <a:cubicBezTo>
                  <a:pt x="104596" y="223500"/>
                  <a:pt x="90706" y="218430"/>
                  <a:pt x="77162" y="210790"/>
                </a:cubicBezTo>
                <a:cubicBezTo>
                  <a:pt x="39588" y="189746"/>
                  <a:pt x="5695" y="150088"/>
                  <a:pt x="833" y="78899"/>
                </a:cubicBezTo>
                <a:cubicBezTo>
                  <a:pt x="-486" y="59382"/>
                  <a:pt x="15419" y="44381"/>
                  <a:pt x="33546" y="44381"/>
                </a:cubicBezTo>
                <a:lnTo>
                  <a:pt x="67995" y="44381"/>
                </a:lnTo>
                <a:cubicBezTo>
                  <a:pt x="67786" y="40769"/>
                  <a:pt x="67647" y="37157"/>
                  <a:pt x="67508" y="33407"/>
                </a:cubicBezTo>
                <a:cubicBezTo>
                  <a:pt x="66814" y="15002"/>
                  <a:pt x="81816" y="-69"/>
                  <a:pt x="100221" y="-69"/>
                </a:cubicBezTo>
                <a:close/>
                <a:moveTo>
                  <a:pt x="70495" y="77788"/>
                </a:moveTo>
                <a:lnTo>
                  <a:pt x="34101" y="77788"/>
                </a:lnTo>
                <a:cubicBezTo>
                  <a:pt x="38408" y="136614"/>
                  <a:pt x="65425" y="166062"/>
                  <a:pt x="93276" y="181689"/>
                </a:cubicBezTo>
                <a:cubicBezTo>
                  <a:pt x="83274" y="155783"/>
                  <a:pt x="75009" y="121960"/>
                  <a:pt x="70495" y="77788"/>
                </a:cubicBezTo>
                <a:close/>
                <a:moveTo>
                  <a:pt x="263922" y="178356"/>
                </a:moveTo>
                <a:cubicBezTo>
                  <a:pt x="292050" y="161826"/>
                  <a:pt x="317470" y="132447"/>
                  <a:pt x="321776" y="77788"/>
                </a:cubicBezTo>
                <a:lnTo>
                  <a:pt x="285452" y="77788"/>
                </a:lnTo>
                <a:cubicBezTo>
                  <a:pt x="281146" y="120084"/>
                  <a:pt x="273368" y="152936"/>
                  <a:pt x="263922" y="178356"/>
                </a:cubicBezTo>
                <a:close/>
              </a:path>
            </a:pathLst>
          </a:custGeom>
          <a:solidFill>
            <a:srgbClr val="FFD700"/>
          </a:solidFill>
          <a:ln/>
        </p:spPr>
      </p:sp>
      <p:sp>
        <p:nvSpPr>
          <p:cNvPr id="11" name="Text 9"/>
          <p:cNvSpPr/>
          <p:nvPr/>
        </p:nvSpPr>
        <p:spPr>
          <a:xfrm>
            <a:off x="1600200" y="19558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8080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HIGHEST VOTE AVERAGE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00200" y="22606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Shawshank Redemption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938000" y="1955800"/>
            <a:ext cx="330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4400" b="1" dirty="0">
                <a:solidFill>
                  <a:srgbClr val="FFD7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8.7</a:t>
            </a:r>
            <a:pPr algn="r">
              <a:lnSpc>
                <a:spcPct val="100000"/>
              </a:lnSpc>
            </a:pPr>
            <a:r>
              <a:rPr lang="en-US" sz="20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/10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938000" y="2616200"/>
            <a:ext cx="330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Drama, Crime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3302000"/>
            <a:ext cx="7366000" cy="49530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6000" y="34544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Vote Average Distribution</a:t>
            </a:r>
            <a:endParaRPr lang="en-US" sz="16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1016000" y="3784600"/>
          <a:ext cx="6858000" cy="4267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Shape 15"/>
          <p:cNvSpPr/>
          <p:nvPr/>
        </p:nvSpPr>
        <p:spPr>
          <a:xfrm>
            <a:off x="8382000" y="3302000"/>
            <a:ext cx="7112000" cy="24130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636000" y="34798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Statistics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636000" y="3810000"/>
            <a:ext cx="6604000" cy="0"/>
          </a:xfrm>
          <a:prstGeom prst="straightConnector1">
            <a:avLst/>
          </a:prstGeom>
          <a:noFill/>
          <a:ln w="12700">
            <a:solidFill>
              <a:srgbClr val="2A2A2A"/>
            </a:solidFill>
            <a:prstDash val="solid"/>
            <a:headEnd type="none"/>
            <a:tailEnd type="none"/>
          </a:ln>
        </p:spPr>
      </p:sp>
      <p:sp>
        <p:nvSpPr>
          <p:cNvPr id="21" name="Text 18"/>
          <p:cNvSpPr/>
          <p:nvPr/>
        </p:nvSpPr>
        <p:spPr>
          <a:xfrm>
            <a:off x="8636000" y="3937000"/>
            <a:ext cx="152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6.2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636000" y="4419600"/>
            <a:ext cx="203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8080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Mean Vote Average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0922000" y="3937000"/>
            <a:ext cx="152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8.7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0922000" y="4419600"/>
            <a:ext cx="203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8080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Highest Rating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3208000" y="3937000"/>
            <a:ext cx="20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~38%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3208000" y="4419600"/>
            <a:ext cx="203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8080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Score 6.0 or Above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8636000" y="4826000"/>
            <a:ext cx="660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Most movies cluster between </a:t>
            </a:r>
            <a:pPr>
              <a:lnSpc>
                <a:spcPct val="150000"/>
              </a:lnSpc>
            </a:pPr>
            <a:r>
              <a:rPr lang="en-US" sz="13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5-7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Only a small percentage achieve elite ratings above 8.0.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8382000" y="5969000"/>
            <a:ext cx="7112000" cy="22860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636000" y="61468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Insights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8636000" y="6477000"/>
            <a:ext cx="6604000" cy="0"/>
          </a:xfrm>
          <a:prstGeom prst="straightConnector1">
            <a:avLst/>
          </a:prstGeom>
          <a:noFill/>
          <a:ln w="12700">
            <a:solidFill>
              <a:srgbClr val="2A2A2A"/>
            </a:solidFill>
            <a:prstDash val="solid"/>
            <a:headEnd type="none"/>
            <a:tailEnd type="none"/>
          </a:ln>
        </p:spPr>
      </p:sp>
      <p:sp>
        <p:nvSpPr>
          <p:cNvPr id="31" name="Text 28"/>
          <p:cNvSpPr/>
          <p:nvPr/>
        </p:nvSpPr>
        <p:spPr>
          <a:xfrm>
            <a:off x="8636000" y="6629400"/>
            <a:ext cx="660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E509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Popularity and vote average are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strongly correlated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400" b="1" dirty="0">
                <a:solidFill>
                  <a:srgbClr val="E509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Top-rated films are classics and dramas, not blockbusters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400" b="1" dirty="0">
                <a:solidFill>
                  <a:srgbClr val="E509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Drama and Crime dominate highest-rated movies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50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E509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8737600"/>
            <a:ext cx="14732000" cy="0"/>
          </a:xfrm>
          <a:prstGeom prst="straightConnector1">
            <a:avLst/>
          </a:prstGeom>
          <a:noFill/>
          <a:ln w="12700">
            <a:solidFill>
              <a:srgbClr val="2A2A2A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762000" y="8788400"/>
            <a:ext cx="508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8080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NETFLIX MOVIE DATA ANALYSIS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4732000" y="87884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8080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62000" y="889000"/>
            <a:ext cx="50800" cy="3556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7" name="Text 5"/>
          <p:cNvSpPr/>
          <p:nvPr/>
        </p:nvSpPr>
        <p:spPr>
          <a:xfrm>
            <a:off x="965200" y="8382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Yearly Movie Trends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65200" y="13208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080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 production surged during the streaming era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62000" y="1778000"/>
            <a:ext cx="14732000" cy="88900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6000" y="18288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8080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PEAK YEAR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6000" y="2108200"/>
            <a:ext cx="152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E509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67000" y="1905000"/>
            <a:ext cx="6350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Most filmed movies in dataset, coinciding with the streaming wars and Netflix's $17B annual content investment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22000" y="1879600"/>
            <a:ext cx="4318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2017-2021: </a:t>
            </a:r>
            <a:pPr algn="r">
              <a:lnSpc>
                <a:spcPct val="140000"/>
              </a:lnSpc>
            </a:pPr>
            <a:r>
              <a:rPr lang="en-US" sz="13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+340%</a:t>
            </a:r>
            <a:pPr algn="r">
              <a:lnSpc>
                <a:spcPct val="140000"/>
              </a:lnSpc>
            </a:pPr>
            <a:r>
              <a:rPr lang="en-US" sz="13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increase</a:t>
            </a:r>
            <a:endParaRPr lang="en-US" sz="1600" dirty="0"/>
          </a:p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vs. 2010-2016 average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2895600"/>
            <a:ext cx="9525000" cy="52070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graphicFrame>
        <p:nvGraphicFramePr>
          <p:cNvPr id="15" name="Chart 0" descr=""/>
          <p:cNvGraphicFramePr/>
          <p:nvPr/>
        </p:nvGraphicFramePr>
        <p:xfrm>
          <a:off x="1016000" y="3098800"/>
          <a:ext cx="9017000" cy="482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Shape 13"/>
          <p:cNvSpPr/>
          <p:nvPr/>
        </p:nvSpPr>
        <p:spPr>
          <a:xfrm>
            <a:off x="10541000" y="2895600"/>
            <a:ext cx="4953000" cy="52070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795000" y="30988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Growth Drivers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0795000" y="3429000"/>
            <a:ext cx="4445000" cy="0"/>
          </a:xfrm>
          <a:prstGeom prst="straightConnector1">
            <a:avLst/>
          </a:prstGeom>
          <a:noFill/>
          <a:ln w="12700">
            <a:solidFill>
              <a:srgbClr val="2A2A2A"/>
            </a:solidFill>
            <a:prstDash val="solid"/>
            <a:headEnd type="none"/>
            <a:tailEnd type="none"/>
          </a:ln>
        </p:spPr>
      </p:sp>
      <p:sp>
        <p:nvSpPr>
          <p:cNvPr id="19" name="Text 16"/>
          <p:cNvSpPr/>
          <p:nvPr/>
        </p:nvSpPr>
        <p:spPr>
          <a:xfrm>
            <a:off x="10795000" y="3657600"/>
            <a:ext cx="457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E509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1328400" y="3581400"/>
            <a:ext cx="3937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Digital filmmaking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reduced production costs, enabling more films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0795000" y="4445000"/>
            <a:ext cx="457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E509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1328400" y="4368800"/>
            <a:ext cx="3937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Streaming demand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created massive content hunger from platforms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0795000" y="5232400"/>
            <a:ext cx="457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E509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1328400" y="5156200"/>
            <a:ext cx="3937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Global expansion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of film industries increased output worldwide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0795000" y="6019800"/>
            <a:ext cx="457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E509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1328400" y="5943600"/>
            <a:ext cx="3937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Netflix's $17B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annual content budget drove production surge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0795000" y="6807200"/>
            <a:ext cx="457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E509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1328400" y="6731000"/>
            <a:ext cx="3937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2022-23 dip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due to pandemic-related production delays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50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E509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8737600"/>
            <a:ext cx="14732000" cy="0"/>
          </a:xfrm>
          <a:prstGeom prst="straightConnector1">
            <a:avLst/>
          </a:prstGeom>
          <a:noFill/>
          <a:ln w="12700">
            <a:solidFill>
              <a:srgbClr val="2A2A2A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762000" y="8788400"/>
            <a:ext cx="508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8080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NETFLIX MOVIE DATA ANALYSIS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4732000" y="87884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8080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62000" y="889000"/>
            <a:ext cx="50800" cy="3556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7" name="Text 5"/>
          <p:cNvSpPr/>
          <p:nvPr/>
        </p:nvSpPr>
        <p:spPr>
          <a:xfrm>
            <a:off x="965200" y="8382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Insights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65200" y="13208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080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recommendations from data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62000" y="1778000"/>
            <a:ext cx="7175500" cy="31115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2000" y="1778000"/>
            <a:ext cx="7175500" cy="508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1" name="Shape 9"/>
          <p:cNvSpPr/>
          <p:nvPr/>
        </p:nvSpPr>
        <p:spPr>
          <a:xfrm>
            <a:off x="1033462" y="20320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0" y="52388"/>
                </a:moveTo>
                <a:cubicBezTo>
                  <a:pt x="0" y="33124"/>
                  <a:pt x="15662" y="17463"/>
                  <a:pt x="34925" y="17463"/>
                </a:cubicBezTo>
                <a:lnTo>
                  <a:pt x="209550" y="17463"/>
                </a:lnTo>
                <a:cubicBezTo>
                  <a:pt x="228813" y="17463"/>
                  <a:pt x="244475" y="33124"/>
                  <a:pt x="244475" y="52388"/>
                </a:cubicBezTo>
                <a:lnTo>
                  <a:pt x="244475" y="227013"/>
                </a:lnTo>
                <a:cubicBezTo>
                  <a:pt x="244475" y="246276"/>
                  <a:pt x="228813" y="261938"/>
                  <a:pt x="209550" y="261938"/>
                </a:cubicBezTo>
                <a:lnTo>
                  <a:pt x="34925" y="261938"/>
                </a:lnTo>
                <a:cubicBezTo>
                  <a:pt x="15662" y="261938"/>
                  <a:pt x="0" y="246276"/>
                  <a:pt x="0" y="227013"/>
                </a:cubicBezTo>
                <a:lnTo>
                  <a:pt x="0" y="52388"/>
                </a:lnTo>
                <a:close/>
                <a:moveTo>
                  <a:pt x="26194" y="200819"/>
                </a:moveTo>
                <a:lnTo>
                  <a:pt x="26194" y="218281"/>
                </a:lnTo>
                <a:cubicBezTo>
                  <a:pt x="26194" y="223083"/>
                  <a:pt x="30123" y="227013"/>
                  <a:pt x="34925" y="227013"/>
                </a:cubicBezTo>
                <a:lnTo>
                  <a:pt x="52388" y="227013"/>
                </a:lnTo>
                <a:cubicBezTo>
                  <a:pt x="57190" y="227013"/>
                  <a:pt x="61119" y="223083"/>
                  <a:pt x="61119" y="218281"/>
                </a:cubicBezTo>
                <a:lnTo>
                  <a:pt x="61119" y="200819"/>
                </a:lnTo>
                <a:cubicBezTo>
                  <a:pt x="61119" y="196017"/>
                  <a:pt x="57190" y="192088"/>
                  <a:pt x="52388" y="192088"/>
                </a:cubicBezTo>
                <a:lnTo>
                  <a:pt x="34925" y="192088"/>
                </a:lnTo>
                <a:cubicBezTo>
                  <a:pt x="30123" y="192088"/>
                  <a:pt x="26194" y="196017"/>
                  <a:pt x="26194" y="200819"/>
                </a:cubicBezTo>
                <a:close/>
                <a:moveTo>
                  <a:pt x="192088" y="192088"/>
                </a:moveTo>
                <a:cubicBezTo>
                  <a:pt x="187285" y="192088"/>
                  <a:pt x="183356" y="196017"/>
                  <a:pt x="183356" y="200819"/>
                </a:cubicBezTo>
                <a:lnTo>
                  <a:pt x="183356" y="218281"/>
                </a:lnTo>
                <a:cubicBezTo>
                  <a:pt x="183356" y="223083"/>
                  <a:pt x="187285" y="227013"/>
                  <a:pt x="192088" y="227013"/>
                </a:cubicBezTo>
                <a:lnTo>
                  <a:pt x="209550" y="227013"/>
                </a:lnTo>
                <a:cubicBezTo>
                  <a:pt x="214352" y="227013"/>
                  <a:pt x="218281" y="223083"/>
                  <a:pt x="218281" y="218281"/>
                </a:cubicBezTo>
                <a:lnTo>
                  <a:pt x="218281" y="200819"/>
                </a:lnTo>
                <a:cubicBezTo>
                  <a:pt x="218281" y="196017"/>
                  <a:pt x="214352" y="192088"/>
                  <a:pt x="209550" y="192088"/>
                </a:cubicBezTo>
                <a:lnTo>
                  <a:pt x="192088" y="192088"/>
                </a:lnTo>
                <a:close/>
                <a:moveTo>
                  <a:pt x="26194" y="130969"/>
                </a:moveTo>
                <a:lnTo>
                  <a:pt x="26194" y="148431"/>
                </a:lnTo>
                <a:cubicBezTo>
                  <a:pt x="26194" y="153233"/>
                  <a:pt x="30123" y="157163"/>
                  <a:pt x="34925" y="157163"/>
                </a:cubicBezTo>
                <a:lnTo>
                  <a:pt x="52388" y="157163"/>
                </a:lnTo>
                <a:cubicBezTo>
                  <a:pt x="57190" y="157163"/>
                  <a:pt x="61119" y="153233"/>
                  <a:pt x="61119" y="148431"/>
                </a:cubicBezTo>
                <a:lnTo>
                  <a:pt x="61119" y="130969"/>
                </a:lnTo>
                <a:cubicBezTo>
                  <a:pt x="61119" y="126167"/>
                  <a:pt x="57190" y="122238"/>
                  <a:pt x="52388" y="122238"/>
                </a:cubicBezTo>
                <a:lnTo>
                  <a:pt x="34925" y="122238"/>
                </a:lnTo>
                <a:cubicBezTo>
                  <a:pt x="30123" y="122238"/>
                  <a:pt x="26194" y="126167"/>
                  <a:pt x="26194" y="130969"/>
                </a:cubicBezTo>
                <a:close/>
                <a:moveTo>
                  <a:pt x="192088" y="122238"/>
                </a:moveTo>
                <a:cubicBezTo>
                  <a:pt x="187285" y="122238"/>
                  <a:pt x="183356" y="126167"/>
                  <a:pt x="183356" y="130969"/>
                </a:cubicBezTo>
                <a:lnTo>
                  <a:pt x="183356" y="148431"/>
                </a:lnTo>
                <a:cubicBezTo>
                  <a:pt x="183356" y="153233"/>
                  <a:pt x="187285" y="157163"/>
                  <a:pt x="192088" y="157163"/>
                </a:cubicBezTo>
                <a:lnTo>
                  <a:pt x="209550" y="157163"/>
                </a:lnTo>
                <a:cubicBezTo>
                  <a:pt x="214352" y="157163"/>
                  <a:pt x="218281" y="153233"/>
                  <a:pt x="218281" y="148431"/>
                </a:cubicBezTo>
                <a:lnTo>
                  <a:pt x="218281" y="130969"/>
                </a:lnTo>
                <a:cubicBezTo>
                  <a:pt x="218281" y="126167"/>
                  <a:pt x="214352" y="122238"/>
                  <a:pt x="209550" y="122238"/>
                </a:cubicBezTo>
                <a:lnTo>
                  <a:pt x="192088" y="122238"/>
                </a:lnTo>
                <a:close/>
                <a:moveTo>
                  <a:pt x="26194" y="61119"/>
                </a:moveTo>
                <a:lnTo>
                  <a:pt x="26194" y="78581"/>
                </a:lnTo>
                <a:cubicBezTo>
                  <a:pt x="26194" y="83383"/>
                  <a:pt x="30123" y="87313"/>
                  <a:pt x="34925" y="87313"/>
                </a:cubicBezTo>
                <a:lnTo>
                  <a:pt x="52388" y="87313"/>
                </a:lnTo>
                <a:cubicBezTo>
                  <a:pt x="57190" y="87313"/>
                  <a:pt x="61119" y="83383"/>
                  <a:pt x="61119" y="78581"/>
                </a:cubicBezTo>
                <a:lnTo>
                  <a:pt x="61119" y="61119"/>
                </a:lnTo>
                <a:cubicBezTo>
                  <a:pt x="61119" y="56317"/>
                  <a:pt x="57190" y="52388"/>
                  <a:pt x="52388" y="52388"/>
                </a:cubicBezTo>
                <a:lnTo>
                  <a:pt x="34925" y="52388"/>
                </a:lnTo>
                <a:cubicBezTo>
                  <a:pt x="30123" y="52388"/>
                  <a:pt x="26194" y="56317"/>
                  <a:pt x="26194" y="61119"/>
                </a:cubicBezTo>
                <a:close/>
                <a:moveTo>
                  <a:pt x="192088" y="52388"/>
                </a:moveTo>
                <a:cubicBezTo>
                  <a:pt x="187285" y="52388"/>
                  <a:pt x="183356" y="56317"/>
                  <a:pt x="183356" y="61119"/>
                </a:cubicBezTo>
                <a:lnTo>
                  <a:pt x="183356" y="78581"/>
                </a:lnTo>
                <a:cubicBezTo>
                  <a:pt x="183356" y="83383"/>
                  <a:pt x="187285" y="87313"/>
                  <a:pt x="192088" y="87313"/>
                </a:cubicBezTo>
                <a:lnTo>
                  <a:pt x="209550" y="87313"/>
                </a:lnTo>
                <a:cubicBezTo>
                  <a:pt x="214352" y="87313"/>
                  <a:pt x="218281" y="83383"/>
                  <a:pt x="218281" y="78581"/>
                </a:cubicBezTo>
                <a:lnTo>
                  <a:pt x="218281" y="61119"/>
                </a:lnTo>
                <a:cubicBezTo>
                  <a:pt x="218281" y="56317"/>
                  <a:pt x="214352" y="52388"/>
                  <a:pt x="209550" y="52388"/>
                </a:cubicBezTo>
                <a:lnTo>
                  <a:pt x="192088" y="52388"/>
                </a:lnTo>
                <a:close/>
              </a:path>
            </a:pathLst>
          </a:custGeom>
          <a:solidFill>
            <a:srgbClr val="E50914"/>
          </a:solidFill>
          <a:ln/>
        </p:spPr>
      </p:sp>
      <p:sp>
        <p:nvSpPr>
          <p:cNvPr id="12" name="Text 10"/>
          <p:cNvSpPr/>
          <p:nvPr/>
        </p:nvSpPr>
        <p:spPr>
          <a:xfrm>
            <a:off x="1422400" y="20066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Genre Strategy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2489200"/>
            <a:ext cx="6667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Drama is the foundational genre with 2,100+ titles.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Drama-Thriller and Drama-Romance hybrids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maximize cross-audience engagement and should be prioritized.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16000" y="3505200"/>
            <a:ext cx="254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E509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23%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6000" y="40894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8080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Drama share of catalog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83000" y="3556000"/>
            <a:ext cx="4064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E509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REC:</a:t>
            </a:r>
            <a:pPr>
              <a:lnSpc>
                <a:spcPct val="15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Invest in genre-hybrid content to capture multiple audience segments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191500" y="1778000"/>
            <a:ext cx="7302500" cy="31115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91500" y="1778000"/>
            <a:ext cx="7302500" cy="5080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9" name="Shape 17"/>
          <p:cNvSpPr/>
          <p:nvPr/>
        </p:nvSpPr>
        <p:spPr>
          <a:xfrm>
            <a:off x="8410575" y="2032000"/>
            <a:ext cx="349250" cy="279400"/>
          </a:xfrm>
          <a:custGeom>
            <a:avLst/>
            <a:gdLst/>
            <a:ahLst/>
            <a:cxnLst/>
            <a:rect l="l" t="t" r="r" b="b"/>
            <a:pathLst>
              <a:path w="349250" h="279400">
                <a:moveTo>
                  <a:pt x="209550" y="17463"/>
                </a:moveTo>
                <a:lnTo>
                  <a:pt x="279400" y="17463"/>
                </a:lnTo>
                <a:cubicBezTo>
                  <a:pt x="289059" y="17463"/>
                  <a:pt x="296863" y="25266"/>
                  <a:pt x="296863" y="34925"/>
                </a:cubicBezTo>
                <a:cubicBezTo>
                  <a:pt x="296863" y="44584"/>
                  <a:pt x="289059" y="52388"/>
                  <a:pt x="279400" y="52388"/>
                </a:cubicBezTo>
                <a:lnTo>
                  <a:pt x="217408" y="52388"/>
                </a:lnTo>
                <a:cubicBezTo>
                  <a:pt x="214570" y="66467"/>
                  <a:pt x="204912" y="78090"/>
                  <a:pt x="192088" y="83656"/>
                </a:cubicBezTo>
                <a:lnTo>
                  <a:pt x="192088" y="244475"/>
                </a:lnTo>
                <a:lnTo>
                  <a:pt x="279400" y="244475"/>
                </a:lnTo>
                <a:cubicBezTo>
                  <a:pt x="289059" y="244475"/>
                  <a:pt x="296863" y="252279"/>
                  <a:pt x="296863" y="261938"/>
                </a:cubicBezTo>
                <a:cubicBezTo>
                  <a:pt x="296863" y="271596"/>
                  <a:pt x="289059" y="279400"/>
                  <a:pt x="279400" y="279400"/>
                </a:cubicBezTo>
                <a:lnTo>
                  <a:pt x="69850" y="279400"/>
                </a:lnTo>
                <a:cubicBezTo>
                  <a:pt x="60191" y="279400"/>
                  <a:pt x="52388" y="271596"/>
                  <a:pt x="52388" y="261938"/>
                </a:cubicBezTo>
                <a:cubicBezTo>
                  <a:pt x="52388" y="252279"/>
                  <a:pt x="60191" y="244475"/>
                  <a:pt x="69850" y="244475"/>
                </a:cubicBezTo>
                <a:lnTo>
                  <a:pt x="157163" y="244475"/>
                </a:lnTo>
                <a:lnTo>
                  <a:pt x="157163" y="83656"/>
                </a:lnTo>
                <a:cubicBezTo>
                  <a:pt x="144338" y="78036"/>
                  <a:pt x="134680" y="66412"/>
                  <a:pt x="131842" y="52388"/>
                </a:cubicBezTo>
                <a:lnTo>
                  <a:pt x="69850" y="52388"/>
                </a:lnTo>
                <a:cubicBezTo>
                  <a:pt x="60191" y="52388"/>
                  <a:pt x="52388" y="44584"/>
                  <a:pt x="52388" y="34925"/>
                </a:cubicBezTo>
                <a:cubicBezTo>
                  <a:pt x="52388" y="25266"/>
                  <a:pt x="60191" y="17463"/>
                  <a:pt x="69850" y="17463"/>
                </a:cubicBezTo>
                <a:lnTo>
                  <a:pt x="139700" y="17463"/>
                </a:lnTo>
                <a:cubicBezTo>
                  <a:pt x="147667" y="6876"/>
                  <a:pt x="160328" y="0"/>
                  <a:pt x="174625" y="0"/>
                </a:cubicBezTo>
                <a:cubicBezTo>
                  <a:pt x="188922" y="0"/>
                  <a:pt x="201583" y="6876"/>
                  <a:pt x="209550" y="17463"/>
                </a:cubicBezTo>
                <a:close/>
                <a:moveTo>
                  <a:pt x="239891" y="174625"/>
                </a:moveTo>
                <a:lnTo>
                  <a:pt x="318909" y="174625"/>
                </a:lnTo>
                <a:lnTo>
                  <a:pt x="279400" y="106849"/>
                </a:lnTo>
                <a:lnTo>
                  <a:pt x="239891" y="174625"/>
                </a:lnTo>
                <a:close/>
                <a:moveTo>
                  <a:pt x="279400" y="227013"/>
                </a:moveTo>
                <a:cubicBezTo>
                  <a:pt x="245075" y="227013"/>
                  <a:pt x="216535" y="208459"/>
                  <a:pt x="210641" y="183957"/>
                </a:cubicBezTo>
                <a:cubicBezTo>
                  <a:pt x="209223" y="177954"/>
                  <a:pt x="211187" y="171787"/>
                  <a:pt x="214298" y="166439"/>
                </a:cubicBezTo>
                <a:lnTo>
                  <a:pt x="266249" y="77381"/>
                </a:lnTo>
                <a:cubicBezTo>
                  <a:pt x="268977" y="72688"/>
                  <a:pt x="273998" y="69850"/>
                  <a:pt x="279400" y="69850"/>
                </a:cubicBezTo>
                <a:cubicBezTo>
                  <a:pt x="284802" y="69850"/>
                  <a:pt x="289823" y="72742"/>
                  <a:pt x="292551" y="77381"/>
                </a:cubicBezTo>
                <a:lnTo>
                  <a:pt x="344502" y="166439"/>
                </a:lnTo>
                <a:cubicBezTo>
                  <a:pt x="347613" y="171787"/>
                  <a:pt x="349577" y="177954"/>
                  <a:pt x="348159" y="183957"/>
                </a:cubicBezTo>
                <a:cubicBezTo>
                  <a:pt x="342265" y="208404"/>
                  <a:pt x="313725" y="227013"/>
                  <a:pt x="279400" y="227013"/>
                </a:cubicBezTo>
                <a:close/>
                <a:moveTo>
                  <a:pt x="69195" y="106849"/>
                </a:moveTo>
                <a:lnTo>
                  <a:pt x="29686" y="174625"/>
                </a:lnTo>
                <a:lnTo>
                  <a:pt x="108759" y="174625"/>
                </a:lnTo>
                <a:lnTo>
                  <a:pt x="69195" y="106849"/>
                </a:lnTo>
                <a:close/>
                <a:moveTo>
                  <a:pt x="491" y="183957"/>
                </a:moveTo>
                <a:cubicBezTo>
                  <a:pt x="-928" y="177954"/>
                  <a:pt x="1037" y="171787"/>
                  <a:pt x="4147" y="166439"/>
                </a:cubicBezTo>
                <a:lnTo>
                  <a:pt x="56098" y="77381"/>
                </a:lnTo>
                <a:cubicBezTo>
                  <a:pt x="58827" y="72688"/>
                  <a:pt x="63847" y="69850"/>
                  <a:pt x="69250" y="69850"/>
                </a:cubicBezTo>
                <a:cubicBezTo>
                  <a:pt x="74652" y="69850"/>
                  <a:pt x="79673" y="72742"/>
                  <a:pt x="82401" y="77381"/>
                </a:cubicBezTo>
                <a:lnTo>
                  <a:pt x="134352" y="166439"/>
                </a:lnTo>
                <a:cubicBezTo>
                  <a:pt x="137463" y="171787"/>
                  <a:pt x="139427" y="177954"/>
                  <a:pt x="138008" y="183957"/>
                </a:cubicBezTo>
                <a:cubicBezTo>
                  <a:pt x="132115" y="208404"/>
                  <a:pt x="103574" y="227013"/>
                  <a:pt x="69250" y="227013"/>
                </a:cubicBezTo>
                <a:cubicBezTo>
                  <a:pt x="34925" y="227013"/>
                  <a:pt x="6385" y="208459"/>
                  <a:pt x="491" y="183957"/>
                </a:cubicBezTo>
                <a:close/>
              </a:path>
            </a:pathLst>
          </a:custGeom>
          <a:solidFill>
            <a:srgbClr val="FFD700"/>
          </a:solidFill>
          <a:ln/>
        </p:spPr>
      </p:sp>
      <p:sp>
        <p:nvSpPr>
          <p:cNvPr id="20" name="Text 18"/>
          <p:cNvSpPr/>
          <p:nvPr/>
        </p:nvSpPr>
        <p:spPr>
          <a:xfrm>
            <a:off x="8851900" y="20066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Popularity != Quality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445500" y="2489200"/>
            <a:ext cx="6794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popularity (franchise films) and high ratings (critically acclaimed) serve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different audience segments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Both have distinct strategic value.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45500" y="3505200"/>
            <a:ext cx="330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D7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Weak corr.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445500" y="4089400"/>
            <a:ext cx="330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8080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Popularity vs. Rating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874500" y="3556000"/>
            <a:ext cx="3556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FFD7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REC:</a:t>
            </a:r>
            <a:pPr>
              <a:lnSpc>
                <a:spcPct val="15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Balance franchise content with prestige films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5143500"/>
            <a:ext cx="7175500" cy="31115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2000" y="5143500"/>
            <a:ext cx="7175500" cy="508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7" name="Shape 25"/>
          <p:cNvSpPr/>
          <p:nvPr/>
        </p:nvSpPr>
        <p:spPr>
          <a:xfrm>
            <a:off x="1016000" y="53975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34925" y="34925"/>
                </a:moveTo>
                <a:cubicBezTo>
                  <a:pt x="34925" y="25266"/>
                  <a:pt x="27121" y="17463"/>
                  <a:pt x="17463" y="17463"/>
                </a:cubicBezTo>
                <a:cubicBezTo>
                  <a:pt x="7804" y="17463"/>
                  <a:pt x="0" y="25266"/>
                  <a:pt x="0" y="34925"/>
                </a:cubicBezTo>
                <a:lnTo>
                  <a:pt x="0" y="218281"/>
                </a:lnTo>
                <a:cubicBezTo>
                  <a:pt x="0" y="242401"/>
                  <a:pt x="19536" y="261938"/>
                  <a:pt x="43656" y="261938"/>
                </a:cubicBezTo>
                <a:lnTo>
                  <a:pt x="261938" y="261938"/>
                </a:lnTo>
                <a:cubicBezTo>
                  <a:pt x="271596" y="261938"/>
                  <a:pt x="279400" y="254134"/>
                  <a:pt x="279400" y="244475"/>
                </a:cubicBezTo>
                <a:cubicBezTo>
                  <a:pt x="279400" y="234816"/>
                  <a:pt x="271596" y="227013"/>
                  <a:pt x="261938" y="227013"/>
                </a:cubicBezTo>
                <a:lnTo>
                  <a:pt x="43656" y="227013"/>
                </a:lnTo>
                <a:cubicBezTo>
                  <a:pt x="38854" y="227013"/>
                  <a:pt x="34925" y="223083"/>
                  <a:pt x="34925" y="218281"/>
                </a:cubicBezTo>
                <a:lnTo>
                  <a:pt x="34925" y="34925"/>
                </a:lnTo>
                <a:close/>
                <a:moveTo>
                  <a:pt x="256808" y="82183"/>
                </a:moveTo>
                <a:cubicBezTo>
                  <a:pt x="263629" y="75362"/>
                  <a:pt x="263629" y="64284"/>
                  <a:pt x="256808" y="57463"/>
                </a:cubicBezTo>
                <a:cubicBezTo>
                  <a:pt x="249987" y="50641"/>
                  <a:pt x="238909" y="50641"/>
                  <a:pt x="232088" y="57463"/>
                </a:cubicBezTo>
                <a:lnTo>
                  <a:pt x="174625" y="114980"/>
                </a:lnTo>
                <a:lnTo>
                  <a:pt x="143302" y="83711"/>
                </a:lnTo>
                <a:cubicBezTo>
                  <a:pt x="136480" y="76890"/>
                  <a:pt x="125403" y="76890"/>
                  <a:pt x="118581" y="83711"/>
                </a:cubicBezTo>
                <a:lnTo>
                  <a:pt x="66194" y="136098"/>
                </a:lnTo>
                <a:cubicBezTo>
                  <a:pt x="59373" y="142920"/>
                  <a:pt x="59373" y="153997"/>
                  <a:pt x="66194" y="160819"/>
                </a:cubicBezTo>
                <a:cubicBezTo>
                  <a:pt x="73015" y="167640"/>
                  <a:pt x="84093" y="167640"/>
                  <a:pt x="90914" y="160819"/>
                </a:cubicBezTo>
                <a:lnTo>
                  <a:pt x="130969" y="120764"/>
                </a:lnTo>
                <a:lnTo>
                  <a:pt x="162292" y="152087"/>
                </a:lnTo>
                <a:cubicBezTo>
                  <a:pt x="169113" y="158909"/>
                  <a:pt x="180191" y="158909"/>
                  <a:pt x="187012" y="152087"/>
                </a:cubicBezTo>
                <a:lnTo>
                  <a:pt x="256862" y="82237"/>
                </a:ln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28" name="Text 26"/>
          <p:cNvSpPr/>
          <p:nvPr/>
        </p:nvSpPr>
        <p:spPr>
          <a:xfrm>
            <a:off x="1422400" y="53721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 Volume Growth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16000" y="5854700"/>
            <a:ext cx="6667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post-2017 surge indicates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intensifying competition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Maintaining content volume is essential for platform retention and subscriber growth.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16000" y="6870700"/>
            <a:ext cx="2921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6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340%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16000" y="7454900"/>
            <a:ext cx="292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8080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Increase vs. 2010-2016 avg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064000" y="6921500"/>
            <a:ext cx="3810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FF6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REC:</a:t>
            </a:r>
            <a:pPr>
              <a:lnSpc>
                <a:spcPct val="15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Sustain high-volume output to stay competitive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191500" y="5143500"/>
            <a:ext cx="7302500" cy="31115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91500" y="5143500"/>
            <a:ext cx="7302500" cy="50800"/>
          </a:xfrm>
          <a:prstGeom prst="rect">
            <a:avLst/>
          </a:prstGeom>
          <a:solidFill>
            <a:srgbClr val="FFA07A"/>
          </a:solidFill>
          <a:ln/>
        </p:spPr>
      </p:sp>
      <p:sp>
        <p:nvSpPr>
          <p:cNvPr id="35" name="Shape 33"/>
          <p:cNvSpPr/>
          <p:nvPr/>
        </p:nvSpPr>
        <p:spPr>
          <a:xfrm>
            <a:off x="8445500" y="53975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22238" y="0"/>
                </a:moveTo>
                <a:cubicBezTo>
                  <a:pt x="141501" y="0"/>
                  <a:pt x="157163" y="11733"/>
                  <a:pt x="157163" y="26194"/>
                </a:cubicBezTo>
                <a:cubicBezTo>
                  <a:pt x="157163" y="31869"/>
                  <a:pt x="154761" y="37108"/>
                  <a:pt x="150614" y="41419"/>
                </a:cubicBezTo>
                <a:cubicBezTo>
                  <a:pt x="147012" y="45184"/>
                  <a:pt x="144066" y="49768"/>
                  <a:pt x="144066" y="55007"/>
                </a:cubicBezTo>
                <a:cubicBezTo>
                  <a:pt x="144066" y="63192"/>
                  <a:pt x="150723" y="69850"/>
                  <a:pt x="158909" y="69850"/>
                </a:cubicBezTo>
                <a:lnTo>
                  <a:pt x="183356" y="69850"/>
                </a:lnTo>
                <a:cubicBezTo>
                  <a:pt x="197817" y="69850"/>
                  <a:pt x="209550" y="81583"/>
                  <a:pt x="209550" y="96044"/>
                </a:cubicBezTo>
                <a:lnTo>
                  <a:pt x="209550" y="120491"/>
                </a:lnTo>
                <a:cubicBezTo>
                  <a:pt x="209550" y="128677"/>
                  <a:pt x="216208" y="135334"/>
                  <a:pt x="224393" y="135334"/>
                </a:cubicBezTo>
                <a:cubicBezTo>
                  <a:pt x="229577" y="135334"/>
                  <a:pt x="234216" y="132388"/>
                  <a:pt x="237981" y="128786"/>
                </a:cubicBezTo>
                <a:cubicBezTo>
                  <a:pt x="242292" y="124693"/>
                  <a:pt x="247531" y="122238"/>
                  <a:pt x="253206" y="122238"/>
                </a:cubicBezTo>
                <a:cubicBezTo>
                  <a:pt x="267667" y="122238"/>
                  <a:pt x="279400" y="137899"/>
                  <a:pt x="279400" y="157163"/>
                </a:cubicBezTo>
                <a:cubicBezTo>
                  <a:pt x="279400" y="176426"/>
                  <a:pt x="267667" y="192088"/>
                  <a:pt x="253206" y="192088"/>
                </a:cubicBezTo>
                <a:cubicBezTo>
                  <a:pt x="247531" y="192088"/>
                  <a:pt x="242238" y="189686"/>
                  <a:pt x="237981" y="185539"/>
                </a:cubicBezTo>
                <a:cubicBezTo>
                  <a:pt x="234216" y="181937"/>
                  <a:pt x="229632" y="178991"/>
                  <a:pt x="224393" y="178991"/>
                </a:cubicBezTo>
                <a:cubicBezTo>
                  <a:pt x="216208" y="178991"/>
                  <a:pt x="209550" y="185648"/>
                  <a:pt x="209550" y="193834"/>
                </a:cubicBezTo>
                <a:lnTo>
                  <a:pt x="209550" y="253206"/>
                </a:lnTo>
                <a:cubicBezTo>
                  <a:pt x="209550" y="267667"/>
                  <a:pt x="197817" y="279400"/>
                  <a:pt x="183356" y="279400"/>
                </a:cubicBezTo>
                <a:lnTo>
                  <a:pt x="152360" y="279400"/>
                </a:lnTo>
                <a:cubicBezTo>
                  <a:pt x="145375" y="279400"/>
                  <a:pt x="139700" y="273725"/>
                  <a:pt x="139700" y="266740"/>
                </a:cubicBezTo>
                <a:cubicBezTo>
                  <a:pt x="139700" y="261719"/>
                  <a:pt x="142865" y="257299"/>
                  <a:pt x="146903" y="254298"/>
                </a:cubicBezTo>
                <a:cubicBezTo>
                  <a:pt x="153233" y="249550"/>
                  <a:pt x="157163" y="243002"/>
                  <a:pt x="157163" y="235744"/>
                </a:cubicBezTo>
                <a:cubicBezTo>
                  <a:pt x="157163" y="221283"/>
                  <a:pt x="141501" y="209550"/>
                  <a:pt x="122238" y="209550"/>
                </a:cubicBezTo>
                <a:cubicBezTo>
                  <a:pt x="102974" y="209550"/>
                  <a:pt x="87313" y="221283"/>
                  <a:pt x="87313" y="235744"/>
                </a:cubicBezTo>
                <a:cubicBezTo>
                  <a:pt x="87313" y="243002"/>
                  <a:pt x="91242" y="249550"/>
                  <a:pt x="97572" y="254298"/>
                </a:cubicBezTo>
                <a:cubicBezTo>
                  <a:pt x="101610" y="257299"/>
                  <a:pt x="104775" y="261665"/>
                  <a:pt x="104775" y="266740"/>
                </a:cubicBezTo>
                <a:cubicBezTo>
                  <a:pt x="104775" y="273725"/>
                  <a:pt x="99100" y="279400"/>
                  <a:pt x="92115" y="279400"/>
                </a:cubicBezTo>
                <a:lnTo>
                  <a:pt x="26194" y="279400"/>
                </a:lnTo>
                <a:cubicBezTo>
                  <a:pt x="11733" y="279400"/>
                  <a:pt x="0" y="267667"/>
                  <a:pt x="0" y="253206"/>
                </a:cubicBezTo>
                <a:lnTo>
                  <a:pt x="0" y="187285"/>
                </a:lnTo>
                <a:cubicBezTo>
                  <a:pt x="0" y="180300"/>
                  <a:pt x="5675" y="174625"/>
                  <a:pt x="12660" y="174625"/>
                </a:cubicBezTo>
                <a:cubicBezTo>
                  <a:pt x="17681" y="174625"/>
                  <a:pt x="22101" y="177790"/>
                  <a:pt x="25102" y="181828"/>
                </a:cubicBezTo>
                <a:cubicBezTo>
                  <a:pt x="29850" y="188158"/>
                  <a:pt x="36398" y="192088"/>
                  <a:pt x="43656" y="192088"/>
                </a:cubicBezTo>
                <a:cubicBezTo>
                  <a:pt x="58117" y="192088"/>
                  <a:pt x="69850" y="176426"/>
                  <a:pt x="69850" y="157163"/>
                </a:cubicBezTo>
                <a:cubicBezTo>
                  <a:pt x="69850" y="137899"/>
                  <a:pt x="58117" y="122238"/>
                  <a:pt x="43656" y="122238"/>
                </a:cubicBezTo>
                <a:cubicBezTo>
                  <a:pt x="36398" y="122238"/>
                  <a:pt x="29850" y="126167"/>
                  <a:pt x="25102" y="132497"/>
                </a:cubicBezTo>
                <a:cubicBezTo>
                  <a:pt x="22101" y="136535"/>
                  <a:pt x="17735" y="139700"/>
                  <a:pt x="12660" y="139700"/>
                </a:cubicBezTo>
                <a:cubicBezTo>
                  <a:pt x="5675" y="139700"/>
                  <a:pt x="0" y="134025"/>
                  <a:pt x="0" y="127040"/>
                </a:cubicBezTo>
                <a:lnTo>
                  <a:pt x="0" y="96044"/>
                </a:lnTo>
                <a:cubicBezTo>
                  <a:pt x="0" y="81583"/>
                  <a:pt x="11733" y="69850"/>
                  <a:pt x="26194" y="69850"/>
                </a:cubicBezTo>
                <a:lnTo>
                  <a:pt x="85566" y="69850"/>
                </a:lnTo>
                <a:cubicBezTo>
                  <a:pt x="93752" y="69850"/>
                  <a:pt x="100409" y="63192"/>
                  <a:pt x="100409" y="55007"/>
                </a:cubicBezTo>
                <a:cubicBezTo>
                  <a:pt x="100409" y="49823"/>
                  <a:pt x="97463" y="45184"/>
                  <a:pt x="93861" y="41419"/>
                </a:cubicBezTo>
                <a:cubicBezTo>
                  <a:pt x="89768" y="37108"/>
                  <a:pt x="87313" y="31869"/>
                  <a:pt x="87313" y="26194"/>
                </a:cubicBezTo>
                <a:cubicBezTo>
                  <a:pt x="87313" y="11733"/>
                  <a:pt x="102974" y="0"/>
                  <a:pt x="122238" y="0"/>
                </a:cubicBezTo>
                <a:close/>
              </a:path>
            </a:pathLst>
          </a:custGeom>
          <a:solidFill>
            <a:srgbClr val="FFA07A"/>
          </a:solidFill>
          <a:ln/>
        </p:spPr>
      </p:sp>
      <p:sp>
        <p:nvSpPr>
          <p:cNvPr id="36" name="Text 34"/>
          <p:cNvSpPr/>
          <p:nvPr/>
        </p:nvSpPr>
        <p:spPr>
          <a:xfrm>
            <a:off x="8851900" y="53721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Diversification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445500" y="5854700"/>
            <a:ext cx="6794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While Drama dominates, niche genres like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Documentary, Animation, and Horror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present untapped opportunities for underserved audiences.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445500" y="6870700"/>
            <a:ext cx="330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A0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Niche +28%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445500" y="7454900"/>
            <a:ext cx="330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8080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Engagement in non-drama genres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1874500" y="6921500"/>
            <a:ext cx="3556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FFA0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REC:</a:t>
            </a:r>
            <a:pPr>
              <a:lnSpc>
                <a:spcPct val="15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Expand niche genre investments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hjx7uioikcm7o/mnt/agents/output/netflix_analysis/images/cover_bg.png">    </p:cNvPr>
          <p:cNvPicPr>
            <a:picLocks noChangeAspect="1"/>
          </p:cNvPicPr>
          <p:nvPr/>
        </p:nvPicPr>
        <p:blipFill>
          <a:blip r:embed="rId1"/>
          <a:srcRect l="0" r="0" t="781" b="781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0F0F">
                  <a:alpha val="87000"/>
                </a:srgbClr>
              </a:gs>
              <a:gs pos="50000">
                <a:srgbClr val="0F0F0F">
                  <a:alpha val="93000"/>
                </a:srgbClr>
              </a:gs>
              <a:gs pos="100000">
                <a:srgbClr val="0F0F0F"/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1524000"/>
            <a:ext cx="2540000" cy="0"/>
          </a:xfrm>
          <a:prstGeom prst="straightConnector1">
            <a:avLst/>
          </a:prstGeom>
          <a:noFill/>
          <a:ln w="38100">
            <a:solidFill>
              <a:srgbClr val="E50914"/>
            </a:solidFill>
            <a:prstDash val="solid"/>
            <a:headEnd type="none"/>
            <a:tailEnd type="none"/>
          </a:ln>
        </p:spPr>
      </p:sp>
      <p:sp>
        <p:nvSpPr>
          <p:cNvPr id="5" name="Text 2"/>
          <p:cNvSpPr/>
          <p:nvPr/>
        </p:nvSpPr>
        <p:spPr>
          <a:xfrm>
            <a:off x="1778000" y="1778000"/>
            <a:ext cx="127000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200" b="1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858000" y="2667000"/>
            <a:ext cx="2540000" cy="0"/>
          </a:xfrm>
          <a:prstGeom prst="straightConnector1">
            <a:avLst/>
          </a:prstGeom>
          <a:noFill/>
          <a:ln w="38100">
            <a:solidFill>
              <a:srgbClr val="E50914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1778000" y="30480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E509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540000" y="2997200"/>
            <a:ext cx="11938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Drama is the most frequent genre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making it the backbone of Netflix's movie catalog with 2,100+ titles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540000" y="3733800"/>
            <a:ext cx="11938000" cy="0"/>
          </a:xfrm>
          <a:prstGeom prst="straightConnector1">
            <a:avLst/>
          </a:prstGeom>
          <a:noFill/>
          <a:ln w="12700">
            <a:solidFill>
              <a:srgbClr val="FFFFFF">
                <a:alpha val="8235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Text 7"/>
          <p:cNvSpPr/>
          <p:nvPr/>
        </p:nvSpPr>
        <p:spPr>
          <a:xfrm>
            <a:off x="1778000" y="38608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E509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540000" y="3810000"/>
            <a:ext cx="11938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Popularity and quality are different metrics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the highest-rated and most popular movies serve different audiences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540000" y="4546600"/>
            <a:ext cx="11938000" cy="0"/>
          </a:xfrm>
          <a:prstGeom prst="straightConnector1">
            <a:avLst/>
          </a:prstGeom>
          <a:noFill/>
          <a:ln w="12700">
            <a:solidFill>
              <a:srgbClr val="FFFFFF">
                <a:alpha val="8235"/>
              </a:srgbClr>
            </a:solidFill>
            <a:prstDash val="solid"/>
            <a:headEnd type="none"/>
            <a:tailEnd type="none"/>
          </a:ln>
        </p:spPr>
      </p:sp>
      <p:sp>
        <p:nvSpPr>
          <p:cNvPr id="13" name="Text 10"/>
          <p:cNvSpPr/>
          <p:nvPr/>
        </p:nvSpPr>
        <p:spPr>
          <a:xfrm>
            <a:off x="1778000" y="46736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E509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540000" y="4622800"/>
            <a:ext cx="11938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2020 was the peak year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movie releases, reflecting the content boom during the streaming wars era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2540000" y="5359400"/>
            <a:ext cx="11938000" cy="0"/>
          </a:xfrm>
          <a:prstGeom prst="straightConnector1">
            <a:avLst/>
          </a:prstGeom>
          <a:noFill/>
          <a:ln w="12700">
            <a:solidFill>
              <a:srgbClr val="FFFFFF">
                <a:alpha val="8235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Text 13"/>
          <p:cNvSpPr/>
          <p:nvPr/>
        </p:nvSpPr>
        <p:spPr>
          <a:xfrm>
            <a:off x="1778000" y="54864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E509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2540000" y="5435600"/>
            <a:ext cx="11938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Balanced content strategy wins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B3B3B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combine broad-appeal dramas with franchise hits and prestige films for optimal results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62000" y="6477000"/>
            <a:ext cx="14732000" cy="0"/>
          </a:xfrm>
          <a:prstGeom prst="straightConnector1">
            <a:avLst/>
          </a:prstGeom>
          <a:noFill/>
          <a:ln w="12700">
            <a:solidFill>
              <a:srgbClr val="FFFFFF">
                <a:alpha val="8235"/>
              </a:srgbClr>
            </a:solidFill>
            <a:prstDash val="solid"/>
            <a:headEnd type="none"/>
            <a:tailEnd type="none"/>
          </a:ln>
        </p:spPr>
      </p:sp>
      <p:sp>
        <p:nvSpPr>
          <p:cNvPr id="19" name="Text 16"/>
          <p:cNvSpPr/>
          <p:nvPr/>
        </p:nvSpPr>
        <p:spPr>
          <a:xfrm>
            <a:off x="3048000" y="6731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spc="6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778000" y="7380619"/>
            <a:ext cx="889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spc="200" kern="0" dirty="0">
                <a:solidFill>
                  <a:srgbClr val="8080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Analyst Portfolio Project                       |                   Anu Gaur                         |                                         2026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62000" y="8128000"/>
            <a:ext cx="14732000" cy="0"/>
          </a:xfrm>
          <a:prstGeom prst="straightConnector1">
            <a:avLst/>
          </a:prstGeom>
          <a:noFill/>
          <a:ln w="12700">
            <a:solidFill>
              <a:srgbClr val="FFFFFF">
                <a:alpha val="8235"/>
              </a:srgbClr>
            </a:solidFill>
            <a:prstDash val="solid"/>
            <a:headEnd type="none"/>
            <a:tailEnd type="none"/>
          </a:ln>
        </p:spPr>
      </p:sp>
      <p:sp>
        <p:nvSpPr>
          <p:cNvPr id="22" name="Text 19"/>
          <p:cNvSpPr/>
          <p:nvPr/>
        </p:nvSpPr>
        <p:spPr>
          <a:xfrm>
            <a:off x="762000" y="8382000"/>
            <a:ext cx="508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8080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NETFLIX MOVIE DATA ANALYSIS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4732000" y="304800"/>
            <a:ext cx="50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400" b="1" dirty="0">
                <a:solidFill>
                  <a:srgbClr val="E509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Netflix Movie Data Analysis</dc:title>
  <dc:subject>Netflix Movie Data Analysis</dc:subject>
  <dc:creator>Kimi</dc:creator>
  <cp:lastModifiedBy>Kimi</cp:lastModifiedBy>
  <cp:revision>1</cp:revision>
  <dcterms:created xsi:type="dcterms:W3CDTF">2026-05-23T15:29:52Z</dcterms:created>
  <dcterms:modified xsi:type="dcterms:W3CDTF">2026-05-23T15:29:52Z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{"Label":"Netflix Movie Data Analysis","ContentProducer":"001191110108MACG2KBH8F10000","ProduceID":"19e55666-45e2-8e56-8000-0000177ba784","ReservedCode1":"","ContentPropagator":"001191110108MACG2KBH8F20000","PropagateID":"19e55666-45e2-8e56-8000-0000177ba784","ReservedCode2":""}</vt:lpwstr>
  </property>
</Properties>
</file>