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6256000" cy="9144000"/>
  <p:notesSz cx="9144000" cy="16256000"/>
  <p:embeddedFontLst>
    <p:embeddedFont>
      <p:font typeface="Liter" charset="-122" pitchFamily="34"/>
      <p:regular r:id="rId1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vov2za7ybcswi/mnt/agents/output/netflix_slides/images/1_735_Dark_Netflix_Royalty_Free_Images.png">    </p:cNvPr>
          <p:cNvPicPr>
            <a:picLocks noChangeAspect="1"/>
          </p:cNvPicPr>
          <p:nvPr/>
        </p:nvPicPr>
        <p:blipFill>
          <a:blip r:embed="rId1"/>
          <a:srcRect l="0" r="0" t="7918" b="7918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41414">
                  <a:alpha val="60000"/>
                </a:srgbClr>
              </a:gs>
              <a:gs pos="50000">
                <a:srgbClr val="141414">
                  <a:alpha val="80000"/>
                </a:srgbClr>
              </a:gs>
              <a:gs pos="100000">
                <a:srgbClr val="141414">
                  <a:alpha val="95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175500" y="3175000"/>
            <a:ext cx="1905000" cy="508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5" name="Text 2"/>
          <p:cNvSpPr/>
          <p:nvPr/>
        </p:nvSpPr>
        <p:spPr>
          <a:xfrm>
            <a:off x="1778000" y="3429000"/>
            <a:ext cx="1270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NETFLIX MOVIE DATA ANALYSIS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4318000" y="43815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Science &amp; Data Analyst Project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762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About Netflix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333500"/>
            <a:ext cx="1016000" cy="508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651000"/>
            <a:ext cx="6858000" cy="66040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2159000"/>
            <a:ext cx="584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800" b="1" dirty="0">
                <a:solidFill>
                  <a:srgbClr val="E509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1997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70000" y="2667000"/>
            <a:ext cx="584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Year Founded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70000" y="3429000"/>
            <a:ext cx="584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Founders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Reed Hastings &amp; Marc Randolph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70000" y="4953000"/>
            <a:ext cx="5842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Origin Story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Started as DVD-by-mail service in Scotts Valley, California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70000" y="6604000"/>
            <a:ext cx="5842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Inspiration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Born from a hefty late fee at a traditional video rental store</a:t>
            </a:r>
            <a:endParaRPr lang="en-US" sz="2000" dirty="0"/>
          </a:p>
        </p:txBody>
      </p:sp>
      <p:pic>
        <p:nvPicPr>
          <p:cNvPr id="10" name="Image 0" descr="https://kimi-img.moonshot.cn/pub/slides/okc/vov2za7ybcswi/mnt/agents/output/netflix_slides/images/5_233_Netflix_On_Laptop_Stock_Video.png">    </p:cNvPr>
          <p:cNvPicPr>
            <a:picLocks noChangeAspect="1"/>
          </p:cNvPicPr>
          <p:nvPr/>
        </p:nvPicPr>
        <p:blipFill>
          <a:blip r:embed="rId1"/>
          <a:srcRect l="19712" r="19712" t="0" b="0"/>
          <a:stretch/>
        </p:blipFill>
        <p:spPr>
          <a:xfrm>
            <a:off x="8382000" y="1651000"/>
            <a:ext cx="7112000" cy="6604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1016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DVDs to Global Streaming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333500"/>
            <a:ext cx="1016000" cy="508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714500"/>
            <a:ext cx="4572000" cy="25400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5" name="Shape 3"/>
          <p:cNvSpPr/>
          <p:nvPr/>
        </p:nvSpPr>
        <p:spPr>
          <a:xfrm>
            <a:off x="1171575" y="20955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81439" y="32951"/>
                </a:moveTo>
                <a:cubicBezTo>
                  <a:pt x="70366" y="26878"/>
                  <a:pt x="56971" y="27146"/>
                  <a:pt x="46077" y="33576"/>
                </a:cubicBezTo>
                <a:cubicBezTo>
                  <a:pt x="35183" y="40005"/>
                  <a:pt x="28575" y="51703"/>
                  <a:pt x="28575" y="64294"/>
                </a:cubicBezTo>
                <a:lnTo>
                  <a:pt x="28575" y="392906"/>
                </a:lnTo>
                <a:cubicBezTo>
                  <a:pt x="28575" y="405497"/>
                  <a:pt x="35272" y="417195"/>
                  <a:pt x="46077" y="423624"/>
                </a:cubicBezTo>
                <a:cubicBezTo>
                  <a:pt x="56882" y="430054"/>
                  <a:pt x="70366" y="430322"/>
                  <a:pt x="81439" y="424249"/>
                </a:cubicBezTo>
                <a:lnTo>
                  <a:pt x="381476" y="259943"/>
                </a:lnTo>
                <a:cubicBezTo>
                  <a:pt x="392906" y="253692"/>
                  <a:pt x="400050" y="241637"/>
                  <a:pt x="400050" y="228600"/>
                </a:cubicBezTo>
                <a:cubicBezTo>
                  <a:pt x="400050" y="215563"/>
                  <a:pt x="392906" y="203508"/>
                  <a:pt x="381476" y="197257"/>
                </a:cubicBezTo>
                <a:lnTo>
                  <a:pt x="81439" y="32951"/>
                </a:lnTo>
                <a:close/>
              </a:path>
            </a:pathLst>
          </a:custGeom>
          <a:solidFill>
            <a:srgbClr val="E50914"/>
          </a:solidFill>
          <a:ln/>
        </p:spPr>
      </p:sp>
      <p:sp>
        <p:nvSpPr>
          <p:cNvPr id="6" name="Text 4"/>
          <p:cNvSpPr/>
          <p:nvPr/>
        </p:nvSpPr>
        <p:spPr>
          <a:xfrm>
            <a:off x="1778000" y="2095500"/>
            <a:ext cx="304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2007: Streaming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2730500"/>
            <a:ext cx="381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Introduced streaming, allowing subscribers to watch instantly online.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42000" y="1714500"/>
            <a:ext cx="4572000" cy="25400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9" name="Shape 7"/>
          <p:cNvSpPr/>
          <p:nvPr/>
        </p:nvSpPr>
        <p:spPr>
          <a:xfrm>
            <a:off x="6223000" y="2095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14236" y="250031"/>
                </a:moveTo>
                <a:lnTo>
                  <a:pt x="143768" y="250031"/>
                </a:lnTo>
                <a:cubicBezTo>
                  <a:pt x="146358" y="307628"/>
                  <a:pt x="159127" y="360670"/>
                  <a:pt x="177254" y="399514"/>
                </a:cubicBezTo>
                <a:cubicBezTo>
                  <a:pt x="187434" y="421392"/>
                  <a:pt x="198418" y="436840"/>
                  <a:pt x="208597" y="446306"/>
                </a:cubicBezTo>
                <a:cubicBezTo>
                  <a:pt x="218599" y="455682"/>
                  <a:pt x="225475" y="457200"/>
                  <a:pt x="229046" y="457200"/>
                </a:cubicBezTo>
                <a:cubicBezTo>
                  <a:pt x="232618" y="457200"/>
                  <a:pt x="239494" y="455682"/>
                  <a:pt x="249495" y="446306"/>
                </a:cubicBezTo>
                <a:cubicBezTo>
                  <a:pt x="259675" y="436840"/>
                  <a:pt x="270659" y="421303"/>
                  <a:pt x="280839" y="399514"/>
                </a:cubicBezTo>
                <a:cubicBezTo>
                  <a:pt x="298966" y="360670"/>
                  <a:pt x="311735" y="307628"/>
                  <a:pt x="314325" y="250031"/>
                </a:cubicBezTo>
                <a:close/>
                <a:moveTo>
                  <a:pt x="143679" y="207169"/>
                </a:moveTo>
                <a:lnTo>
                  <a:pt x="314146" y="207169"/>
                </a:lnTo>
                <a:cubicBezTo>
                  <a:pt x="311646" y="149572"/>
                  <a:pt x="298877" y="96530"/>
                  <a:pt x="280749" y="57686"/>
                </a:cubicBezTo>
                <a:cubicBezTo>
                  <a:pt x="270570" y="35897"/>
                  <a:pt x="259586" y="20360"/>
                  <a:pt x="249406" y="10894"/>
                </a:cubicBezTo>
                <a:cubicBezTo>
                  <a:pt x="239405" y="1518"/>
                  <a:pt x="232529" y="0"/>
                  <a:pt x="228957" y="0"/>
                </a:cubicBezTo>
                <a:cubicBezTo>
                  <a:pt x="225385" y="0"/>
                  <a:pt x="218509" y="1518"/>
                  <a:pt x="208508" y="10894"/>
                </a:cubicBezTo>
                <a:cubicBezTo>
                  <a:pt x="198328" y="20360"/>
                  <a:pt x="187345" y="35897"/>
                  <a:pt x="177165" y="57686"/>
                </a:cubicBezTo>
                <a:cubicBezTo>
                  <a:pt x="159038" y="96530"/>
                  <a:pt x="146268" y="149572"/>
                  <a:pt x="143679" y="207169"/>
                </a:cubicBezTo>
                <a:close/>
                <a:moveTo>
                  <a:pt x="100816" y="207169"/>
                </a:moveTo>
                <a:cubicBezTo>
                  <a:pt x="103942" y="130731"/>
                  <a:pt x="123676" y="59740"/>
                  <a:pt x="152519" y="13127"/>
                </a:cubicBezTo>
                <a:cubicBezTo>
                  <a:pt x="70277" y="42237"/>
                  <a:pt x="9733" y="117157"/>
                  <a:pt x="1339" y="207169"/>
                </a:cubicBezTo>
                <a:lnTo>
                  <a:pt x="100816" y="207169"/>
                </a:lnTo>
                <a:close/>
                <a:moveTo>
                  <a:pt x="1339" y="250031"/>
                </a:moveTo>
                <a:cubicBezTo>
                  <a:pt x="9733" y="340043"/>
                  <a:pt x="70277" y="414963"/>
                  <a:pt x="152519" y="444073"/>
                </a:cubicBezTo>
                <a:cubicBezTo>
                  <a:pt x="123676" y="397460"/>
                  <a:pt x="103942" y="326469"/>
                  <a:pt x="100816" y="250031"/>
                </a:cubicBezTo>
                <a:lnTo>
                  <a:pt x="1339" y="250031"/>
                </a:lnTo>
                <a:close/>
                <a:moveTo>
                  <a:pt x="357098" y="250031"/>
                </a:moveTo>
                <a:cubicBezTo>
                  <a:pt x="353973" y="326469"/>
                  <a:pt x="334238" y="397460"/>
                  <a:pt x="305395" y="444073"/>
                </a:cubicBezTo>
                <a:cubicBezTo>
                  <a:pt x="387638" y="414873"/>
                  <a:pt x="448181" y="340043"/>
                  <a:pt x="456575" y="250031"/>
                </a:cubicBezTo>
                <a:lnTo>
                  <a:pt x="357098" y="250031"/>
                </a:lnTo>
                <a:close/>
                <a:moveTo>
                  <a:pt x="456575" y="207169"/>
                </a:moveTo>
                <a:cubicBezTo>
                  <a:pt x="448181" y="117157"/>
                  <a:pt x="387638" y="42237"/>
                  <a:pt x="305395" y="13127"/>
                </a:cubicBezTo>
                <a:cubicBezTo>
                  <a:pt x="334238" y="59740"/>
                  <a:pt x="353973" y="130731"/>
                  <a:pt x="357098" y="207169"/>
                </a:cubicBezTo>
                <a:lnTo>
                  <a:pt x="456575" y="207169"/>
                </a:lnTo>
                <a:close/>
              </a:path>
            </a:pathLst>
          </a:custGeom>
          <a:solidFill>
            <a:srgbClr val="E50914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0" y="2095500"/>
            <a:ext cx="304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2010: Expansion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23000" y="2730500"/>
            <a:ext cx="381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Began international expansion starting with Canada.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922000" y="1714500"/>
            <a:ext cx="4572000" cy="25400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3" name="Shape 11"/>
          <p:cNvSpPr/>
          <p:nvPr/>
        </p:nvSpPr>
        <p:spPr>
          <a:xfrm>
            <a:off x="11303000" y="2095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9738" y="178326"/>
                </a:moveTo>
                <a:lnTo>
                  <a:pt x="77331" y="205919"/>
                </a:lnTo>
                <a:cubicBezTo>
                  <a:pt x="82689" y="211276"/>
                  <a:pt x="89922" y="214313"/>
                  <a:pt x="97512" y="214313"/>
                </a:cubicBezTo>
                <a:lnTo>
                  <a:pt x="116711" y="214313"/>
                </a:lnTo>
                <a:cubicBezTo>
                  <a:pt x="124301" y="214313"/>
                  <a:pt x="131534" y="217349"/>
                  <a:pt x="136892" y="222706"/>
                </a:cubicBezTo>
                <a:lnTo>
                  <a:pt x="163056" y="248870"/>
                </a:lnTo>
                <a:cubicBezTo>
                  <a:pt x="168414" y="254228"/>
                  <a:pt x="171450" y="261461"/>
                  <a:pt x="171450" y="269051"/>
                </a:cubicBezTo>
                <a:lnTo>
                  <a:pt x="171450" y="302538"/>
                </a:lnTo>
                <a:cubicBezTo>
                  <a:pt x="171450" y="310128"/>
                  <a:pt x="174486" y="317361"/>
                  <a:pt x="179844" y="322719"/>
                </a:cubicBezTo>
                <a:lnTo>
                  <a:pt x="191720" y="334595"/>
                </a:lnTo>
                <a:cubicBezTo>
                  <a:pt x="197078" y="339953"/>
                  <a:pt x="200114" y="347186"/>
                  <a:pt x="200114" y="354776"/>
                </a:cubicBezTo>
                <a:lnTo>
                  <a:pt x="200114" y="371475"/>
                </a:lnTo>
                <a:cubicBezTo>
                  <a:pt x="200114" y="387281"/>
                  <a:pt x="212884" y="400050"/>
                  <a:pt x="228689" y="400050"/>
                </a:cubicBezTo>
                <a:cubicBezTo>
                  <a:pt x="244495" y="400050"/>
                  <a:pt x="257264" y="387281"/>
                  <a:pt x="257264" y="371475"/>
                </a:cubicBezTo>
                <a:lnTo>
                  <a:pt x="257264" y="369064"/>
                </a:lnTo>
                <a:cubicBezTo>
                  <a:pt x="257264" y="361474"/>
                  <a:pt x="260300" y="354241"/>
                  <a:pt x="265658" y="348883"/>
                </a:cubicBezTo>
                <a:lnTo>
                  <a:pt x="306110" y="308431"/>
                </a:lnTo>
                <a:cubicBezTo>
                  <a:pt x="311468" y="303074"/>
                  <a:pt x="314504" y="295841"/>
                  <a:pt x="314504" y="288250"/>
                </a:cubicBezTo>
                <a:lnTo>
                  <a:pt x="314504" y="257264"/>
                </a:lnTo>
                <a:cubicBezTo>
                  <a:pt x="314504" y="241459"/>
                  <a:pt x="301734" y="228689"/>
                  <a:pt x="285929" y="228689"/>
                </a:cubicBezTo>
                <a:lnTo>
                  <a:pt x="212080" y="228689"/>
                </a:lnTo>
                <a:cubicBezTo>
                  <a:pt x="204490" y="228689"/>
                  <a:pt x="197257" y="225653"/>
                  <a:pt x="191899" y="220295"/>
                </a:cubicBezTo>
                <a:lnTo>
                  <a:pt x="177611" y="206008"/>
                </a:lnTo>
                <a:cubicBezTo>
                  <a:pt x="173861" y="202257"/>
                  <a:pt x="171718" y="197078"/>
                  <a:pt x="171718" y="191720"/>
                </a:cubicBezTo>
                <a:cubicBezTo>
                  <a:pt x="171718" y="180558"/>
                  <a:pt x="180737" y="171539"/>
                  <a:pt x="191899" y="171539"/>
                </a:cubicBezTo>
                <a:lnTo>
                  <a:pt x="222885" y="171539"/>
                </a:lnTo>
                <a:cubicBezTo>
                  <a:pt x="234047" y="171539"/>
                  <a:pt x="243066" y="162520"/>
                  <a:pt x="243066" y="151358"/>
                </a:cubicBezTo>
                <a:cubicBezTo>
                  <a:pt x="243066" y="146000"/>
                  <a:pt x="240923" y="140821"/>
                  <a:pt x="237173" y="137071"/>
                </a:cubicBezTo>
                <a:lnTo>
                  <a:pt x="219581" y="119479"/>
                </a:lnTo>
                <a:cubicBezTo>
                  <a:pt x="216098" y="116086"/>
                  <a:pt x="214313" y="111710"/>
                  <a:pt x="214313" y="107156"/>
                </a:cubicBezTo>
                <a:cubicBezTo>
                  <a:pt x="214313" y="102602"/>
                  <a:pt x="216098" y="98227"/>
                  <a:pt x="219402" y="94923"/>
                </a:cubicBezTo>
                <a:lnTo>
                  <a:pt x="234851" y="79474"/>
                </a:lnTo>
                <a:cubicBezTo>
                  <a:pt x="240030" y="74295"/>
                  <a:pt x="242977" y="67241"/>
                  <a:pt x="242977" y="59918"/>
                </a:cubicBezTo>
                <a:cubicBezTo>
                  <a:pt x="242977" y="53489"/>
                  <a:pt x="240834" y="47685"/>
                  <a:pt x="237262" y="43041"/>
                </a:cubicBezTo>
                <a:cubicBezTo>
                  <a:pt x="234404" y="42952"/>
                  <a:pt x="231547" y="42862"/>
                  <a:pt x="228689" y="42862"/>
                </a:cubicBezTo>
                <a:cubicBezTo>
                  <a:pt x="143500" y="42862"/>
                  <a:pt x="71795" y="100191"/>
                  <a:pt x="49828" y="178326"/>
                </a:cubicBezTo>
                <a:close/>
                <a:moveTo>
                  <a:pt x="414338" y="228600"/>
                </a:moveTo>
                <a:cubicBezTo>
                  <a:pt x="414338" y="197703"/>
                  <a:pt x="406837" y="168593"/>
                  <a:pt x="393442" y="143054"/>
                </a:cubicBezTo>
                <a:cubicBezTo>
                  <a:pt x="387727" y="143857"/>
                  <a:pt x="382101" y="146536"/>
                  <a:pt x="377458" y="151180"/>
                </a:cubicBezTo>
                <a:lnTo>
                  <a:pt x="365492" y="163145"/>
                </a:lnTo>
                <a:cubicBezTo>
                  <a:pt x="360134" y="168503"/>
                  <a:pt x="357098" y="175736"/>
                  <a:pt x="357098" y="183326"/>
                </a:cubicBezTo>
                <a:lnTo>
                  <a:pt x="357098" y="214313"/>
                </a:lnTo>
                <a:cubicBezTo>
                  <a:pt x="357098" y="230118"/>
                  <a:pt x="369868" y="242888"/>
                  <a:pt x="385673" y="242888"/>
                </a:cubicBezTo>
                <a:lnTo>
                  <a:pt x="407194" y="242888"/>
                </a:lnTo>
                <a:cubicBezTo>
                  <a:pt x="409426" y="242888"/>
                  <a:pt x="411659" y="242620"/>
                  <a:pt x="413712" y="242173"/>
                </a:cubicBezTo>
                <a:cubicBezTo>
                  <a:pt x="414070" y="237708"/>
                  <a:pt x="414159" y="233154"/>
                  <a:pt x="414159" y="228600"/>
                </a:cubicBezTo>
                <a:close/>
                <a:moveTo>
                  <a:pt x="0" y="228600"/>
                </a:moveTo>
                <a:cubicBezTo>
                  <a:pt x="0" y="102432"/>
                  <a:pt x="102432" y="0"/>
                  <a:pt x="228600" y="0"/>
                </a:cubicBez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lose/>
              </a:path>
            </a:pathLst>
          </a:custGeom>
          <a:solidFill>
            <a:srgbClr val="E50914"/>
          </a:solidFill>
          <a:ln/>
        </p:spPr>
      </p:sp>
      <p:sp>
        <p:nvSpPr>
          <p:cNvPr id="14" name="Text 12"/>
          <p:cNvSpPr/>
          <p:nvPr/>
        </p:nvSpPr>
        <p:spPr>
          <a:xfrm>
            <a:off x="11938000" y="2095500"/>
            <a:ext cx="304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2016: Global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303000" y="2730500"/>
            <a:ext cx="381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Available in 190+ countries, a global streaming leader.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4826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2024 Q3 Performance Snapshot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5334000"/>
            <a:ext cx="4572000" cy="30480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8" name="Text 16"/>
          <p:cNvSpPr/>
          <p:nvPr/>
        </p:nvSpPr>
        <p:spPr>
          <a:xfrm>
            <a:off x="762000" y="5715000"/>
            <a:ext cx="4572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E509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~$10B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762000" y="6477000"/>
            <a:ext cx="457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Revenue (Q3)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842000" y="5334000"/>
            <a:ext cx="4572000" cy="30480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1" name="Text 19"/>
          <p:cNvSpPr/>
          <p:nvPr/>
        </p:nvSpPr>
        <p:spPr>
          <a:xfrm>
            <a:off x="5842000" y="5715000"/>
            <a:ext cx="4572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E509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$2.4B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5842000" y="6477000"/>
            <a:ext cx="457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Profits (Q3)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922000" y="5334000"/>
            <a:ext cx="4572000" cy="30480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4" name="Text 22"/>
          <p:cNvSpPr/>
          <p:nvPr/>
        </p:nvSpPr>
        <p:spPr>
          <a:xfrm>
            <a:off x="10922000" y="5715000"/>
            <a:ext cx="4572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E509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283M+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10922000" y="6477000"/>
            <a:ext cx="457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Paid Memberships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1016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Dataset Challenge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333500"/>
            <a:ext cx="1016000" cy="508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778000"/>
            <a:ext cx="6858000" cy="63500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5" name="Shape 3"/>
          <p:cNvSpPr/>
          <p:nvPr/>
        </p:nvSpPr>
        <p:spPr>
          <a:xfrm>
            <a:off x="1308100" y="22860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533400" y="245031"/>
                </a:moveTo>
                <a:cubicBezTo>
                  <a:pt x="515779" y="256699"/>
                  <a:pt x="495538" y="266105"/>
                  <a:pt x="474464" y="273606"/>
                </a:cubicBezTo>
                <a:cubicBezTo>
                  <a:pt x="418505" y="293608"/>
                  <a:pt x="345043" y="304800"/>
                  <a:pt x="266700" y="304800"/>
                </a:cubicBezTo>
                <a:cubicBezTo>
                  <a:pt x="188357" y="304800"/>
                  <a:pt x="114776" y="293489"/>
                  <a:pt x="58936" y="273606"/>
                </a:cubicBezTo>
                <a:cubicBezTo>
                  <a:pt x="37981" y="266105"/>
                  <a:pt x="17621" y="256699"/>
                  <a:pt x="0" y="245031"/>
                </a:cubicBezTo>
                <a:lnTo>
                  <a:pt x="0" y="342900"/>
                </a:lnTo>
                <a:cubicBezTo>
                  <a:pt x="0" y="395526"/>
                  <a:pt x="119420" y="438150"/>
                  <a:pt x="266700" y="438150"/>
                </a:cubicBezTo>
                <a:cubicBezTo>
                  <a:pt x="413980" y="438150"/>
                  <a:pt x="533400" y="395526"/>
                  <a:pt x="533400" y="342900"/>
                </a:cubicBezTo>
                <a:lnTo>
                  <a:pt x="533400" y="245031"/>
                </a:lnTo>
                <a:close/>
                <a:moveTo>
                  <a:pt x="533400" y="152400"/>
                </a:moveTo>
                <a:lnTo>
                  <a:pt x="533400" y="95250"/>
                </a:lnTo>
                <a:cubicBezTo>
                  <a:pt x="533400" y="42624"/>
                  <a:pt x="413980" y="0"/>
                  <a:pt x="266700" y="0"/>
                </a:cubicBezTo>
                <a:cubicBezTo>
                  <a:pt x="119420" y="0"/>
                  <a:pt x="0" y="42624"/>
                  <a:pt x="0" y="95250"/>
                </a:cubicBezTo>
                <a:lnTo>
                  <a:pt x="0" y="152400"/>
                </a:lnTo>
                <a:cubicBezTo>
                  <a:pt x="0" y="205026"/>
                  <a:pt x="119420" y="247650"/>
                  <a:pt x="266700" y="247650"/>
                </a:cubicBezTo>
                <a:cubicBezTo>
                  <a:pt x="413980" y="247650"/>
                  <a:pt x="533400" y="205026"/>
                  <a:pt x="533400" y="152400"/>
                </a:cubicBezTo>
                <a:close/>
                <a:moveTo>
                  <a:pt x="474464" y="464106"/>
                </a:moveTo>
                <a:cubicBezTo>
                  <a:pt x="418624" y="483989"/>
                  <a:pt x="345162" y="495300"/>
                  <a:pt x="266700" y="495300"/>
                </a:cubicBezTo>
                <a:cubicBezTo>
                  <a:pt x="188238" y="495300"/>
                  <a:pt x="114776" y="483989"/>
                  <a:pt x="58936" y="464106"/>
                </a:cubicBezTo>
                <a:cubicBezTo>
                  <a:pt x="37981" y="456605"/>
                  <a:pt x="17621" y="447199"/>
                  <a:pt x="0" y="435531"/>
                </a:cubicBezTo>
                <a:lnTo>
                  <a:pt x="0" y="514350"/>
                </a:lnTo>
                <a:cubicBezTo>
                  <a:pt x="0" y="566976"/>
                  <a:pt x="119420" y="609600"/>
                  <a:pt x="266700" y="609600"/>
                </a:cubicBezTo>
                <a:cubicBezTo>
                  <a:pt x="413980" y="609600"/>
                  <a:pt x="533400" y="566976"/>
                  <a:pt x="533400" y="514350"/>
                </a:cubicBezTo>
                <a:lnTo>
                  <a:pt x="533400" y="435531"/>
                </a:lnTo>
                <a:cubicBezTo>
                  <a:pt x="515779" y="447199"/>
                  <a:pt x="495538" y="456605"/>
                  <a:pt x="474464" y="464106"/>
                </a:cubicBezTo>
                <a:close/>
              </a:path>
            </a:pathLst>
          </a:custGeom>
          <a:solidFill>
            <a:srgbClr val="E50914"/>
          </a:solidFill>
          <a:ln/>
        </p:spPr>
      </p:sp>
      <p:sp>
        <p:nvSpPr>
          <p:cNvPr id="6" name="Text 4"/>
          <p:cNvSpPr/>
          <p:nvPr/>
        </p:nvSpPr>
        <p:spPr>
          <a:xfrm>
            <a:off x="1270000" y="3111500"/>
            <a:ext cx="584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Science at Netflix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70000" y="3746500"/>
            <a:ext cx="5842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Netflix is known for its work in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science, AI, and ML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particularly for building strong recommendation models and algorithms that understand customer behavior and patterns.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 a data-driven professional, you have a dataset of </a:t>
            </a:r>
            <a:pPr>
              <a:lnSpc>
                <a:spcPct val="160000"/>
              </a:lnSpc>
              <a:spcBef>
                <a:spcPts val="1600"/>
              </a:spcBef>
            </a:pPr>
            <a:r>
              <a:rPr lang="en-US" sz="2000" b="1" dirty="0">
                <a:solidFill>
                  <a:srgbClr val="E509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more than 9,000 movies</a:t>
            </a:r>
            <a:pPr>
              <a:lnSpc>
                <a:spcPct val="16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analyze and help the company make informed business decisions.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890000" y="2540000"/>
            <a:ext cx="1524000" cy="1524000"/>
          </a:xfrm>
          <a:custGeom>
            <a:avLst/>
            <a:gdLst/>
            <a:ahLst/>
            <a:cxnLst/>
            <a:rect l="l" t="t" r="r" b="b"/>
            <a:pathLst>
              <a:path w="1524000" h="1524000">
                <a:moveTo>
                  <a:pt x="190500" y="190500"/>
                </a:moveTo>
                <a:cubicBezTo>
                  <a:pt x="190500" y="137815"/>
                  <a:pt x="147935" y="95250"/>
                  <a:pt x="95250" y="95250"/>
                </a:cubicBezTo>
                <a:cubicBezTo>
                  <a:pt x="42565" y="95250"/>
                  <a:pt x="0" y="137815"/>
                  <a:pt x="0" y="190500"/>
                </a:cubicBezTo>
                <a:lnTo>
                  <a:pt x="0" y="1190625"/>
                </a:lnTo>
                <a:cubicBezTo>
                  <a:pt x="0" y="1322189"/>
                  <a:pt x="106561" y="1428750"/>
                  <a:pt x="238125" y="1428750"/>
                </a:cubicBezTo>
                <a:lnTo>
                  <a:pt x="1428750" y="1428750"/>
                </a:lnTo>
                <a:cubicBezTo>
                  <a:pt x="1481435" y="1428750"/>
                  <a:pt x="1524000" y="1386185"/>
                  <a:pt x="1524000" y="1333500"/>
                </a:cubicBezTo>
                <a:cubicBezTo>
                  <a:pt x="1524000" y="1280815"/>
                  <a:pt x="1481435" y="1238250"/>
                  <a:pt x="1428750" y="1238250"/>
                </a:cubicBezTo>
                <a:lnTo>
                  <a:pt x="238125" y="1238250"/>
                </a:lnTo>
                <a:cubicBezTo>
                  <a:pt x="211931" y="1238250"/>
                  <a:pt x="190500" y="1216819"/>
                  <a:pt x="190500" y="1190625"/>
                </a:cubicBezTo>
                <a:lnTo>
                  <a:pt x="190500" y="190500"/>
                </a:lnTo>
                <a:close/>
                <a:moveTo>
                  <a:pt x="1400770" y="448270"/>
                </a:moveTo>
                <a:cubicBezTo>
                  <a:pt x="1437977" y="411063"/>
                  <a:pt x="1437977" y="350639"/>
                  <a:pt x="1400770" y="313432"/>
                </a:cubicBezTo>
                <a:cubicBezTo>
                  <a:pt x="1363563" y="276225"/>
                  <a:pt x="1303139" y="276225"/>
                  <a:pt x="1265932" y="313432"/>
                </a:cubicBezTo>
                <a:lnTo>
                  <a:pt x="952500" y="627162"/>
                </a:lnTo>
                <a:lnTo>
                  <a:pt x="781645" y="456605"/>
                </a:lnTo>
                <a:cubicBezTo>
                  <a:pt x="744438" y="419398"/>
                  <a:pt x="684014" y="419398"/>
                  <a:pt x="646807" y="456605"/>
                </a:cubicBezTo>
                <a:lnTo>
                  <a:pt x="361057" y="742355"/>
                </a:lnTo>
                <a:cubicBezTo>
                  <a:pt x="323850" y="779562"/>
                  <a:pt x="323850" y="839986"/>
                  <a:pt x="361057" y="877193"/>
                </a:cubicBezTo>
                <a:cubicBezTo>
                  <a:pt x="398264" y="914400"/>
                  <a:pt x="458688" y="914400"/>
                  <a:pt x="495895" y="877193"/>
                </a:cubicBezTo>
                <a:lnTo>
                  <a:pt x="714375" y="658713"/>
                </a:lnTo>
                <a:lnTo>
                  <a:pt x="885230" y="829568"/>
                </a:lnTo>
                <a:cubicBezTo>
                  <a:pt x="922437" y="866775"/>
                  <a:pt x="982861" y="866775"/>
                  <a:pt x="1020068" y="829568"/>
                </a:cubicBezTo>
                <a:lnTo>
                  <a:pt x="1401068" y="448568"/>
                </a:lnTo>
                <a:close/>
              </a:path>
            </a:pathLst>
          </a:custGeom>
          <a:solidFill>
            <a:srgbClr val="E50914">
              <a:alpha val="18824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382000" y="4318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6400" b="1" dirty="0">
                <a:solidFill>
                  <a:srgbClr val="E509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9,000+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382000" y="5080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Movies in Dataset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82000" y="5842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/ ML / Recommendation Models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1016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 Key Analysis Questions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333500"/>
            <a:ext cx="1016000" cy="508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714500"/>
            <a:ext cx="4699000" cy="18415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9050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E509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714500" y="1905000"/>
            <a:ext cx="3492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the most frequent genre of movies released on Netflix?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778500" y="1714500"/>
            <a:ext cx="4699000" cy="18415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8" name="Text 6"/>
          <p:cNvSpPr/>
          <p:nvPr/>
        </p:nvSpPr>
        <p:spPr>
          <a:xfrm>
            <a:off x="6032500" y="1905000"/>
            <a:ext cx="6985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E509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94500" y="1905000"/>
            <a:ext cx="3429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Which movie has the highest votes in the vote average column?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0795000" y="1714500"/>
            <a:ext cx="4699000" cy="18415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1" name="Text 9"/>
          <p:cNvSpPr/>
          <p:nvPr/>
        </p:nvSpPr>
        <p:spPr>
          <a:xfrm>
            <a:off x="11049000" y="1905000"/>
            <a:ext cx="6985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E509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11000" y="1905000"/>
            <a:ext cx="3429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movie got the highest popularity? What's its genre?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263900" y="3810000"/>
            <a:ext cx="4699000" cy="18415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4" name="Text 12"/>
          <p:cNvSpPr/>
          <p:nvPr/>
        </p:nvSpPr>
        <p:spPr>
          <a:xfrm>
            <a:off x="3517900" y="4000500"/>
            <a:ext cx="6985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E509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279900" y="4000500"/>
            <a:ext cx="3429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movie got the lowest popularity? What's its genre?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280400" y="3810000"/>
            <a:ext cx="4699000" cy="18415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7" name="Text 15"/>
          <p:cNvSpPr/>
          <p:nvPr/>
        </p:nvSpPr>
        <p:spPr>
          <a:xfrm>
            <a:off x="8534400" y="4000500"/>
            <a:ext cx="6985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E509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296400" y="4000500"/>
            <a:ext cx="3429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Which year has the most filmed movies?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62000" y="60325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These questions will help uncover patterns in genre trends, audience preferences, and production history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 inform Netflix's content strategy and business decisions.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vov2za7ybcswi/mnt/agents/output/netflix_slides/images/1_735_Dark_Netflix_Royalty_Free_Images.png">    </p:cNvPr>
          <p:cNvPicPr>
            <a:picLocks noChangeAspect="1"/>
          </p:cNvPicPr>
          <p:nvPr/>
        </p:nvPicPr>
        <p:blipFill>
          <a:blip r:embed="rId1"/>
          <a:srcRect l="0" r="0" t="7918" b="7918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41414">
                  <a:alpha val="60000"/>
                </a:srgbClr>
              </a:gs>
              <a:gs pos="50000">
                <a:srgbClr val="141414">
                  <a:alpha val="80000"/>
                </a:srgbClr>
              </a:gs>
              <a:gs pos="100000">
                <a:srgbClr val="141414">
                  <a:alpha val="95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175500" y="3429000"/>
            <a:ext cx="1905000" cy="508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5" name="Text 2"/>
          <p:cNvSpPr/>
          <p:nvPr/>
        </p:nvSpPr>
        <p:spPr>
          <a:xfrm>
            <a:off x="3048000" y="3683000"/>
            <a:ext cx="1016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LET'S ANALYZE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048000" y="4699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Turning data into decisions for the world's leading streaming platform.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Netflix Movie Data Analysis</dc:title>
  <dc:subject>Netflix Movie Data Analysis</dc:subject>
  <dc:creator>Kimi</dc:creator>
  <cp:lastModifiedBy>Kimi</cp:lastModifiedBy>
  <cp:revision>1</cp:revision>
  <dcterms:created xsi:type="dcterms:W3CDTF">2026-05-23T15:37:01Z</dcterms:created>
  <dcterms:modified xsi:type="dcterms:W3CDTF">2026-05-23T15:37:01Z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{"Label":"Netflix Movie Data Analysis","ContentProducer":"001191110108MACG2KBH8F10000","ProduceID":"19e5579f-8602-82db-8000-000028ee5521","ReservedCode1":"","ContentPropagator":"001191110108MACG2KBH8F20000","PropagateID":"19e5579f-8602-82db-8000-000028ee5521","ReservedCode2":""}</vt:lpwstr>
  </property>
</Properties>
</file>